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</p:sldIdLst>
  <p:sldSz cy="29260800" cx="36576000"/>
  <p:notesSz cx="9388475" cy="12771425"/>
  <p:embeddedFontLst>
    <p:embeddedFont>
      <p:font typeface="Roboto"/>
      <p:regular r:id="rId8"/>
      <p:bold r:id="rId9"/>
      <p:italic r:id="rId10"/>
      <p:boldItalic r:id="rId11"/>
    </p:embeddedFont>
    <p:embeddedFont>
      <p:font typeface="Cambria Math"/>
      <p:regular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9216">
          <p15:clr>
            <a:srgbClr val="A4A3A4"/>
          </p15:clr>
        </p15:guide>
        <p15:guide id="2" pos="11521">
          <p15:clr>
            <a:srgbClr val="A4A3A4"/>
          </p15:clr>
        </p15:guide>
      </p15:sldGuideLst>
    </p:ext>
    <p:ext uri="GoogleSlidesCustomDataVersion2">
      <go:slidesCustomData xmlns:go="http://customooxmlschemas.google.com/" r:id="rId13" roundtripDataSignature="AMtx7mgWxFpoTOOngn3OvKBoqvfIoeI0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18B2C54-E4DA-4DC8-95C0-3FEC5C888504}">
  <a:tblStyle styleId="{C18B2C54-E4DA-4DC8-95C0-3FEC5C88850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CD7209F-BEFC-4115-A1DB-641420CE577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9216" orient="horz"/>
        <p:guide pos="11521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boldItalic.fntdata"/><Relationship Id="rId10" Type="http://schemas.openxmlformats.org/officeDocument/2006/relationships/font" Target="fonts/Roboto-italic.fntdata"/><Relationship Id="rId13" Type="http://customschemas.google.com/relationships/presentationmetadata" Target="metadata"/><Relationship Id="rId12" Type="http://schemas.openxmlformats.org/officeDocument/2006/relationships/font" Target="fonts/CambriaMath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font" Target="fonts/Robot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4059238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13600" lIns="27225" spcFirstLastPara="1" rIns="27225" wrap="square" tIns="136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314950" y="0"/>
            <a:ext cx="4081463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13600" lIns="27225" spcFirstLastPara="1" rIns="27225" wrap="square" tIns="136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704975" y="962025"/>
            <a:ext cx="5986463" cy="4789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255713" y="6072188"/>
            <a:ext cx="6884987" cy="5751512"/>
          </a:xfrm>
          <a:prstGeom prst="rect">
            <a:avLst/>
          </a:prstGeom>
          <a:noFill/>
          <a:ln>
            <a:noFill/>
          </a:ln>
        </p:spPr>
        <p:txBody>
          <a:bodyPr anchorCtr="0" anchor="t" bIns="13600" lIns="27225" spcFirstLastPara="1" rIns="27225" wrap="square" tIns="136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2122150"/>
            <a:ext cx="4059238" cy="641350"/>
          </a:xfrm>
          <a:prstGeom prst="rect">
            <a:avLst/>
          </a:prstGeom>
          <a:noFill/>
          <a:ln>
            <a:noFill/>
          </a:ln>
        </p:spPr>
        <p:txBody>
          <a:bodyPr anchorCtr="0" anchor="b" bIns="13600" lIns="27225" spcFirstLastPara="1" rIns="27225" wrap="square" tIns="136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314950" y="12122150"/>
            <a:ext cx="4081463" cy="641350"/>
          </a:xfrm>
          <a:prstGeom prst="rect">
            <a:avLst/>
          </a:prstGeom>
          <a:noFill/>
          <a:ln>
            <a:noFill/>
          </a:ln>
        </p:spPr>
        <p:txBody>
          <a:bodyPr anchorCtr="0" anchor="b" bIns="13600" lIns="27225" spcFirstLastPara="1" rIns="27225" wrap="square" tIns="136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fld id="{00000000-1234-1234-1234-123412341234}" type="slidenum">
              <a:rPr b="0" i="0" lang="en-US" sz="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/>
          <p:nvPr>
            <p:ph idx="2" type="sldImg"/>
          </p:nvPr>
        </p:nvSpPr>
        <p:spPr>
          <a:xfrm>
            <a:off x="1704975" y="962025"/>
            <a:ext cx="5986463" cy="4789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1255713" y="6072188"/>
            <a:ext cx="6884987" cy="5751512"/>
          </a:xfrm>
          <a:prstGeom prst="rect">
            <a:avLst/>
          </a:prstGeom>
          <a:noFill/>
          <a:ln>
            <a:noFill/>
          </a:ln>
        </p:spPr>
        <p:txBody>
          <a:bodyPr anchorCtr="0" anchor="t" bIns="13600" lIns="27225" spcFirstLastPara="1" rIns="27225" wrap="square" tIns="136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Poster Outline: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Left Side of Poster: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Introduction: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-Alzheimer's Disease is a progressive neurodegenerative disease that has been around for decades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-No exact cause, often diagnosed after irreversible damage has occured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-Need for early detection tools while it is still in MCI stage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-CNNs have shown promise in feature extraction for images &amp; can be combined with SVMs as a Hybrid Model for optimized early detection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Data: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-ADNI Data -&gt; How many Scans? How much of each Class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Middle of Poster: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-Feature Extraction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-Pyramid &amp; U-Net Structure/Diagrams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-Explain SVM (using visuals) &amp; Then go into kernel options?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Right Side of Poster: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Results: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-Overfitting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Conclusions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References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https://pubmed.ncbi.nlm.nih.gov/36829675/</a:t>
            </a:r>
            <a:endParaRPr/>
          </a:p>
        </p:txBody>
      </p:sp>
      <p:sp>
        <p:nvSpPr>
          <p:cNvPr id="82" name="Google Shape;82;p1:notes"/>
          <p:cNvSpPr txBox="1"/>
          <p:nvPr>
            <p:ph idx="12" type="sldNum"/>
          </p:nvPr>
        </p:nvSpPr>
        <p:spPr>
          <a:xfrm>
            <a:off x="5314950" y="12122150"/>
            <a:ext cx="4081463" cy="641350"/>
          </a:xfrm>
          <a:prstGeom prst="rect">
            <a:avLst/>
          </a:prstGeom>
          <a:noFill/>
          <a:ln>
            <a:noFill/>
          </a:ln>
        </p:spPr>
        <p:txBody>
          <a:bodyPr anchorCtr="0" anchor="b" bIns="13600" lIns="27225" spcFirstLastPara="1" rIns="27225" wrap="square" tIns="136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idx="10" type="dt"/>
          </p:nvPr>
        </p:nvSpPr>
        <p:spPr>
          <a:xfrm>
            <a:off x="2741864" y="26660700"/>
            <a:ext cx="7620000" cy="19504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1" type="ftr"/>
          </p:nvPr>
        </p:nvSpPr>
        <p:spPr>
          <a:xfrm>
            <a:off x="12498139" y="26660700"/>
            <a:ext cx="11579725" cy="1950433"/>
          </a:xfrm>
          <a:prstGeom prst="rect">
            <a:avLst/>
          </a:prstGeom>
          <a:noFill/>
          <a:ln>
            <a:noFill/>
          </a:ln>
        </p:spPr>
        <p:txBody>
          <a:bodyPr anchorCtr="0" anchor="t" bIns="45075" lIns="90175" spcFirstLastPara="1" rIns="90175" wrap="square" tIns="450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26214137" y="26660700"/>
            <a:ext cx="7620000" cy="1950433"/>
          </a:xfrm>
          <a:prstGeom prst="rect">
            <a:avLst/>
          </a:prstGeom>
          <a:noFill/>
          <a:ln>
            <a:noFill/>
          </a:ln>
        </p:spPr>
        <p:txBody>
          <a:bodyPr anchorCtr="0" anchor="t" bIns="45075" lIns="90175" spcFirstLastPara="1" rIns="90175" wrap="square" tIns="450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ctrTitle"/>
          </p:nvPr>
        </p:nvSpPr>
        <p:spPr>
          <a:xfrm>
            <a:off x="2743200" y="9089625"/>
            <a:ext cx="31089600" cy="6272011"/>
          </a:xfrm>
          <a:prstGeom prst="rect">
            <a:avLst/>
          </a:prstGeom>
          <a:noFill/>
          <a:ln>
            <a:noFill/>
          </a:ln>
        </p:spPr>
        <p:txBody>
          <a:bodyPr anchorCtr="0" anchor="t" bIns="45075" lIns="90175" spcFirstLastPara="1" rIns="90175" wrap="square" tIns="450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6" name="Google Shape;16;p4"/>
          <p:cNvSpPr txBox="1"/>
          <p:nvPr>
            <p:ph idx="1" type="subTitle"/>
          </p:nvPr>
        </p:nvSpPr>
        <p:spPr>
          <a:xfrm>
            <a:off x="5486400" y="16580835"/>
            <a:ext cx="25603200" cy="7478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075" lIns="90175" spcFirstLastPara="1" rIns="90175" wrap="square" tIns="450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2680"/>
              </a:spcBef>
              <a:spcAft>
                <a:spcPts val="0"/>
              </a:spcAft>
              <a:buClr>
                <a:schemeClr val="dk1"/>
              </a:buClr>
              <a:buSzPts val="13400"/>
              <a:buFont typeface="Times New Roman"/>
              <a:buNone/>
              <a:defRPr b="0" i="0" sz="13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2280"/>
              </a:spcBef>
              <a:spcAft>
                <a:spcPts val="0"/>
              </a:spcAft>
              <a:buClr>
                <a:schemeClr val="dk1"/>
              </a:buClr>
              <a:buSzPts val="11400"/>
              <a:buFont typeface="Times New Roman"/>
              <a:buNone/>
              <a:defRPr b="0" i="0" sz="1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2020"/>
              </a:spcBef>
              <a:spcAft>
                <a:spcPts val="0"/>
              </a:spcAft>
              <a:buClr>
                <a:schemeClr val="dk1"/>
              </a:buClr>
              <a:buSzPts val="10100"/>
              <a:buFont typeface="Times New Roman"/>
              <a:buNone/>
              <a:defRPr b="0" i="0" sz="10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Times New Roman"/>
              <a:buNone/>
              <a:defRPr b="0" i="0" sz="8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Times New Roman"/>
              <a:buNone/>
              <a:defRPr b="0" i="0" sz="8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Times New Roman"/>
              <a:buNone/>
              <a:defRPr b="0" i="0" sz="8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Times New Roman"/>
              <a:buNone/>
              <a:defRPr b="0" i="0" sz="8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Times New Roman"/>
              <a:buNone/>
              <a:defRPr b="0" i="0" sz="8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Times New Roman"/>
              <a:buNone/>
              <a:defRPr b="0" i="0" sz="8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7" name="Google Shape;17;p4"/>
          <p:cNvSpPr txBox="1"/>
          <p:nvPr>
            <p:ph idx="10" type="dt"/>
          </p:nvPr>
        </p:nvSpPr>
        <p:spPr>
          <a:xfrm>
            <a:off x="2741864" y="26660700"/>
            <a:ext cx="7620000" cy="19504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12498139" y="26660700"/>
            <a:ext cx="11579725" cy="1950433"/>
          </a:xfrm>
          <a:prstGeom prst="rect">
            <a:avLst/>
          </a:prstGeom>
          <a:noFill/>
          <a:ln>
            <a:noFill/>
          </a:ln>
        </p:spPr>
        <p:txBody>
          <a:bodyPr anchorCtr="0" anchor="t" bIns="45075" lIns="90175" spcFirstLastPara="1" rIns="90175" wrap="square" tIns="450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26214137" y="26660700"/>
            <a:ext cx="7620000" cy="1950433"/>
          </a:xfrm>
          <a:prstGeom prst="rect">
            <a:avLst/>
          </a:prstGeom>
          <a:noFill/>
          <a:ln>
            <a:noFill/>
          </a:ln>
        </p:spPr>
        <p:txBody>
          <a:bodyPr anchorCtr="0" anchor="t" bIns="45075" lIns="90175" spcFirstLastPara="1" rIns="90175" wrap="square" tIns="450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741864" y="2601532"/>
            <a:ext cx="31092275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75" lIns="90175" spcFirstLastPara="1" rIns="90175" wrap="square" tIns="450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741864" y="8455696"/>
            <a:ext cx="31092275" cy="17553904"/>
          </a:xfrm>
          <a:prstGeom prst="rect">
            <a:avLst/>
          </a:prstGeom>
          <a:noFill/>
          <a:ln>
            <a:noFill/>
          </a:ln>
        </p:spPr>
        <p:txBody>
          <a:bodyPr anchorCtr="0" anchor="t" bIns="45075" lIns="90175" spcFirstLastPara="1" rIns="90175" wrap="square" tIns="45075">
            <a:noAutofit/>
          </a:bodyPr>
          <a:lstStyle>
            <a:lvl1pPr indent="-1079500" lvl="0" marL="457200" marR="0" rtl="0" algn="l">
              <a:lnSpc>
                <a:spcPct val="100000"/>
              </a:lnSpc>
              <a:spcBef>
                <a:spcPts val="2680"/>
              </a:spcBef>
              <a:spcAft>
                <a:spcPts val="0"/>
              </a:spcAft>
              <a:buClr>
                <a:schemeClr val="dk1"/>
              </a:buClr>
              <a:buSzPts val="13400"/>
              <a:buFont typeface="Times New Roman"/>
              <a:buChar char="•"/>
              <a:defRPr b="0" i="0" sz="13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952500" lvl="1" marL="914400" marR="0" rtl="0" algn="l">
              <a:lnSpc>
                <a:spcPct val="100000"/>
              </a:lnSpc>
              <a:spcBef>
                <a:spcPts val="2280"/>
              </a:spcBef>
              <a:spcAft>
                <a:spcPts val="0"/>
              </a:spcAft>
              <a:buClr>
                <a:schemeClr val="dk1"/>
              </a:buClr>
              <a:buSzPts val="11400"/>
              <a:buFont typeface="Times New Roman"/>
              <a:buChar char="–"/>
              <a:defRPr b="0" i="0" sz="1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869950" lvl="2" marL="1371600" marR="0" rtl="0" algn="l">
              <a:lnSpc>
                <a:spcPct val="100000"/>
              </a:lnSpc>
              <a:spcBef>
                <a:spcPts val="2020"/>
              </a:spcBef>
              <a:spcAft>
                <a:spcPts val="0"/>
              </a:spcAft>
              <a:buClr>
                <a:schemeClr val="dk1"/>
              </a:buClr>
              <a:buSzPts val="10100"/>
              <a:buFont typeface="Times New Roman"/>
              <a:buChar char="•"/>
              <a:defRPr b="0" i="0" sz="10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762000" lvl="3" marL="1828800" marR="0" rtl="0" algn="l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Times New Roman"/>
              <a:buChar char="–"/>
              <a:defRPr b="0" i="0" sz="8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762000" lvl="4" marL="2286000" marR="0" rtl="0" algn="l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Times New Roman"/>
              <a:buChar char="»"/>
              <a:defRPr b="0" i="0" sz="8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762000" lvl="5" marL="2743200" marR="0" rtl="0" algn="l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Times New Roman"/>
              <a:buChar char="»"/>
              <a:defRPr b="0" i="0" sz="8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762000" lvl="6" marL="3200400" marR="0" rtl="0" algn="l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Times New Roman"/>
              <a:buChar char="»"/>
              <a:defRPr b="0" i="0" sz="8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762000" lvl="7" marL="3657600" marR="0" rtl="0" algn="l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Times New Roman"/>
              <a:buChar char="»"/>
              <a:defRPr b="0" i="0" sz="8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762000" lvl="8" marL="4114800" marR="0" rtl="0" algn="l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Times New Roman"/>
              <a:buChar char="»"/>
              <a:defRPr b="0" i="0" sz="8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2741864" y="26660700"/>
            <a:ext cx="7620000" cy="19504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12498139" y="26660700"/>
            <a:ext cx="11579725" cy="1950433"/>
          </a:xfrm>
          <a:prstGeom prst="rect">
            <a:avLst/>
          </a:prstGeom>
          <a:noFill/>
          <a:ln>
            <a:noFill/>
          </a:ln>
        </p:spPr>
        <p:txBody>
          <a:bodyPr anchorCtr="0" anchor="t" bIns="45075" lIns="90175" spcFirstLastPara="1" rIns="90175" wrap="square" tIns="450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26214137" y="26660700"/>
            <a:ext cx="7620000" cy="1950433"/>
          </a:xfrm>
          <a:prstGeom prst="rect">
            <a:avLst/>
          </a:prstGeom>
          <a:noFill/>
          <a:ln>
            <a:noFill/>
          </a:ln>
        </p:spPr>
        <p:txBody>
          <a:bodyPr anchorCtr="0" anchor="t" bIns="45075" lIns="90175" spcFirstLastPara="1" rIns="90175" wrap="square" tIns="450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2888917" y="18803156"/>
            <a:ext cx="31089600" cy="5811234"/>
          </a:xfrm>
          <a:prstGeom prst="rect">
            <a:avLst/>
          </a:prstGeom>
          <a:noFill/>
          <a:ln>
            <a:noFill/>
          </a:ln>
        </p:spPr>
        <p:txBody>
          <a:bodyPr anchorCtr="0" anchor="t" bIns="45075" lIns="90175" spcFirstLastPara="1" rIns="90175" wrap="square" tIns="450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5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2888917" y="12402357"/>
            <a:ext cx="31089600" cy="640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075" lIns="90175" spcFirstLastPara="1" rIns="90175" wrap="square" tIns="450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  <a:defRPr b="0" i="0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2741864" y="26660700"/>
            <a:ext cx="7620000" cy="19504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12498139" y="26660700"/>
            <a:ext cx="11579725" cy="1950433"/>
          </a:xfrm>
          <a:prstGeom prst="rect">
            <a:avLst/>
          </a:prstGeom>
          <a:noFill/>
          <a:ln>
            <a:noFill/>
          </a:ln>
        </p:spPr>
        <p:txBody>
          <a:bodyPr anchorCtr="0" anchor="t" bIns="45075" lIns="90175" spcFirstLastPara="1" rIns="90175" wrap="square" tIns="450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26214137" y="26660700"/>
            <a:ext cx="7620000" cy="1950433"/>
          </a:xfrm>
          <a:prstGeom prst="rect">
            <a:avLst/>
          </a:prstGeom>
          <a:noFill/>
          <a:ln>
            <a:noFill/>
          </a:ln>
        </p:spPr>
        <p:txBody>
          <a:bodyPr anchorCtr="0" anchor="t" bIns="45075" lIns="90175" spcFirstLastPara="1" rIns="90175" wrap="square" tIns="450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2741864" y="2601532"/>
            <a:ext cx="31092275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75" lIns="90175" spcFirstLastPara="1" rIns="90175" wrap="square" tIns="450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2741866" y="8455696"/>
            <a:ext cx="15481967" cy="17553904"/>
          </a:xfrm>
          <a:prstGeom prst="rect">
            <a:avLst/>
          </a:prstGeom>
          <a:noFill/>
          <a:ln>
            <a:noFill/>
          </a:ln>
        </p:spPr>
        <p:txBody>
          <a:bodyPr anchorCtr="0" anchor="t" bIns="45075" lIns="90175" spcFirstLastPara="1" rIns="90175" wrap="square" tIns="45075">
            <a:noAutofit/>
          </a:bodyPr>
          <a:lstStyle>
            <a:lvl1pPr indent="-38735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•"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61950" lvl="1" marL="914400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–"/>
              <a:defRPr b="0" i="0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36550" lvl="2" marL="1371600" marR="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•"/>
              <a:defRPr b="0" i="0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–"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2385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»"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2385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»"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2385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»"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2385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»"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2385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»"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2" type="body"/>
          </p:nvPr>
        </p:nvSpPr>
        <p:spPr>
          <a:xfrm>
            <a:off x="18352170" y="8455696"/>
            <a:ext cx="15481968" cy="17553904"/>
          </a:xfrm>
          <a:prstGeom prst="rect">
            <a:avLst/>
          </a:prstGeom>
          <a:noFill/>
          <a:ln>
            <a:noFill/>
          </a:ln>
        </p:spPr>
        <p:txBody>
          <a:bodyPr anchorCtr="0" anchor="t" bIns="45075" lIns="90175" spcFirstLastPara="1" rIns="90175" wrap="square" tIns="45075">
            <a:noAutofit/>
          </a:bodyPr>
          <a:lstStyle>
            <a:lvl1pPr indent="-38735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•"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61950" lvl="1" marL="914400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–"/>
              <a:defRPr b="0" i="0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36550" lvl="2" marL="1371600" marR="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•"/>
              <a:defRPr b="0" i="0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–"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2385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»"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2385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»"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2385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»"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2385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»"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2385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»"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6" name="Google Shape;36;p7"/>
          <p:cNvSpPr txBox="1"/>
          <p:nvPr>
            <p:ph idx="10" type="dt"/>
          </p:nvPr>
        </p:nvSpPr>
        <p:spPr>
          <a:xfrm>
            <a:off x="2741864" y="26660700"/>
            <a:ext cx="7620000" cy="19504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7" name="Google Shape;37;p7"/>
          <p:cNvSpPr txBox="1"/>
          <p:nvPr>
            <p:ph idx="11" type="ftr"/>
          </p:nvPr>
        </p:nvSpPr>
        <p:spPr>
          <a:xfrm>
            <a:off x="12498139" y="26660700"/>
            <a:ext cx="11579725" cy="1950433"/>
          </a:xfrm>
          <a:prstGeom prst="rect">
            <a:avLst/>
          </a:prstGeom>
          <a:noFill/>
          <a:ln>
            <a:noFill/>
          </a:ln>
        </p:spPr>
        <p:txBody>
          <a:bodyPr anchorCtr="0" anchor="t" bIns="45075" lIns="90175" spcFirstLastPara="1" rIns="90175" wrap="square" tIns="450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26214137" y="26660700"/>
            <a:ext cx="7620000" cy="1950433"/>
          </a:xfrm>
          <a:prstGeom prst="rect">
            <a:avLst/>
          </a:prstGeom>
          <a:noFill/>
          <a:ln>
            <a:noFill/>
          </a:ln>
        </p:spPr>
        <p:txBody>
          <a:bodyPr anchorCtr="0" anchor="t" bIns="45075" lIns="90175" spcFirstLastPara="1" rIns="90175" wrap="square" tIns="450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1828800" y="1171978"/>
            <a:ext cx="329184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75" lIns="90175" spcFirstLastPara="1" rIns="90175" wrap="square" tIns="450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1" name="Google Shape;41;p8"/>
          <p:cNvSpPr txBox="1"/>
          <p:nvPr>
            <p:ph idx="1" type="body"/>
          </p:nvPr>
        </p:nvSpPr>
        <p:spPr>
          <a:xfrm>
            <a:off x="1828801" y="6549624"/>
            <a:ext cx="16161084" cy="2730322"/>
          </a:xfrm>
          <a:prstGeom prst="rect">
            <a:avLst/>
          </a:prstGeom>
          <a:noFill/>
          <a:ln>
            <a:noFill/>
          </a:ln>
        </p:spPr>
        <p:txBody>
          <a:bodyPr anchorCtr="0" anchor="b" bIns="45075" lIns="90175" spcFirstLastPara="1" rIns="90175" wrap="square" tIns="450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None/>
              <a:defRPr b="1" i="0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  <a:defRPr b="1" i="0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1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1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1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1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1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1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1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2" name="Google Shape;42;p8"/>
          <p:cNvSpPr txBox="1"/>
          <p:nvPr>
            <p:ph idx="2" type="body"/>
          </p:nvPr>
        </p:nvSpPr>
        <p:spPr>
          <a:xfrm>
            <a:off x="1828801" y="9279945"/>
            <a:ext cx="16161084" cy="16858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075" lIns="90175" spcFirstLastPara="1" rIns="90175" wrap="square" tIns="45075">
            <a:noAutofit/>
          </a:bodyPr>
          <a:lstStyle>
            <a:lvl1pPr indent="-361950" lvl="0" marL="457200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•"/>
              <a:defRPr b="0" i="0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6550" lvl="1" marL="914400" marR="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–"/>
              <a:defRPr b="0" i="0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2385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•"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–"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»"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»"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»"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»"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»"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3" name="Google Shape;43;p8"/>
          <p:cNvSpPr txBox="1"/>
          <p:nvPr>
            <p:ph idx="3" type="body"/>
          </p:nvPr>
        </p:nvSpPr>
        <p:spPr>
          <a:xfrm>
            <a:off x="18580769" y="6549624"/>
            <a:ext cx="16166432" cy="2730322"/>
          </a:xfrm>
          <a:prstGeom prst="rect">
            <a:avLst/>
          </a:prstGeom>
          <a:noFill/>
          <a:ln>
            <a:noFill/>
          </a:ln>
        </p:spPr>
        <p:txBody>
          <a:bodyPr anchorCtr="0" anchor="b" bIns="45075" lIns="90175" spcFirstLastPara="1" rIns="90175" wrap="square" tIns="450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None/>
              <a:defRPr b="1" i="0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  <a:defRPr b="1" i="0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1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1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1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1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1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1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1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4" type="body"/>
          </p:nvPr>
        </p:nvSpPr>
        <p:spPr>
          <a:xfrm>
            <a:off x="18580769" y="9279945"/>
            <a:ext cx="16166432" cy="16858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075" lIns="90175" spcFirstLastPara="1" rIns="90175" wrap="square" tIns="45075">
            <a:noAutofit/>
          </a:bodyPr>
          <a:lstStyle>
            <a:lvl1pPr indent="-361950" lvl="0" marL="457200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•"/>
              <a:defRPr b="0" i="0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6550" lvl="1" marL="914400" marR="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–"/>
              <a:defRPr b="0" i="0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2385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•"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–"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»"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»"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»"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»"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»"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5" name="Google Shape;45;p8"/>
          <p:cNvSpPr txBox="1"/>
          <p:nvPr>
            <p:ph idx="10" type="dt"/>
          </p:nvPr>
        </p:nvSpPr>
        <p:spPr>
          <a:xfrm>
            <a:off x="2741864" y="26660700"/>
            <a:ext cx="7620000" cy="19504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6" name="Google Shape;46;p8"/>
          <p:cNvSpPr txBox="1"/>
          <p:nvPr>
            <p:ph idx="11" type="ftr"/>
          </p:nvPr>
        </p:nvSpPr>
        <p:spPr>
          <a:xfrm>
            <a:off x="12498139" y="26660700"/>
            <a:ext cx="11579725" cy="1950433"/>
          </a:xfrm>
          <a:prstGeom prst="rect">
            <a:avLst/>
          </a:prstGeom>
          <a:noFill/>
          <a:ln>
            <a:noFill/>
          </a:ln>
        </p:spPr>
        <p:txBody>
          <a:bodyPr anchorCtr="0" anchor="t" bIns="45075" lIns="90175" spcFirstLastPara="1" rIns="90175" wrap="square" tIns="450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26214137" y="26660700"/>
            <a:ext cx="7620000" cy="1950433"/>
          </a:xfrm>
          <a:prstGeom prst="rect">
            <a:avLst/>
          </a:prstGeom>
          <a:noFill/>
          <a:ln>
            <a:noFill/>
          </a:ln>
        </p:spPr>
        <p:txBody>
          <a:bodyPr anchorCtr="0" anchor="t" bIns="45075" lIns="90175" spcFirstLastPara="1" rIns="90175" wrap="square" tIns="450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/>
          <p:nvPr>
            <p:ph type="title"/>
          </p:nvPr>
        </p:nvSpPr>
        <p:spPr>
          <a:xfrm>
            <a:off x="2741864" y="2601532"/>
            <a:ext cx="31092275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75" lIns="90175" spcFirstLastPara="1" rIns="90175" wrap="square" tIns="450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0" name="Google Shape;50;p9"/>
          <p:cNvSpPr txBox="1"/>
          <p:nvPr>
            <p:ph idx="10" type="dt"/>
          </p:nvPr>
        </p:nvSpPr>
        <p:spPr>
          <a:xfrm>
            <a:off x="2741864" y="26660700"/>
            <a:ext cx="7620000" cy="19504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1" type="ftr"/>
          </p:nvPr>
        </p:nvSpPr>
        <p:spPr>
          <a:xfrm>
            <a:off x="12498139" y="26660700"/>
            <a:ext cx="11579725" cy="1950433"/>
          </a:xfrm>
          <a:prstGeom prst="rect">
            <a:avLst/>
          </a:prstGeom>
          <a:noFill/>
          <a:ln>
            <a:noFill/>
          </a:ln>
        </p:spPr>
        <p:txBody>
          <a:bodyPr anchorCtr="0" anchor="t" bIns="45075" lIns="90175" spcFirstLastPara="1" rIns="90175" wrap="square" tIns="450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2" type="sldNum"/>
          </p:nvPr>
        </p:nvSpPr>
        <p:spPr>
          <a:xfrm>
            <a:off x="26214137" y="26660700"/>
            <a:ext cx="7620000" cy="1950433"/>
          </a:xfrm>
          <a:prstGeom prst="rect">
            <a:avLst/>
          </a:prstGeom>
          <a:noFill/>
          <a:ln>
            <a:noFill/>
          </a:ln>
        </p:spPr>
        <p:txBody>
          <a:bodyPr anchorCtr="0" anchor="t" bIns="45075" lIns="90175" spcFirstLastPara="1" rIns="90175" wrap="square" tIns="450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/>
          <p:nvPr>
            <p:ph type="title"/>
          </p:nvPr>
        </p:nvSpPr>
        <p:spPr>
          <a:xfrm>
            <a:off x="1828801" y="1164824"/>
            <a:ext cx="12032917" cy="4958367"/>
          </a:xfrm>
          <a:prstGeom prst="rect">
            <a:avLst/>
          </a:prstGeom>
          <a:noFill/>
          <a:ln>
            <a:noFill/>
          </a:ln>
        </p:spPr>
        <p:txBody>
          <a:bodyPr anchorCtr="0" anchor="b" bIns="45075" lIns="90175" spcFirstLastPara="1" rIns="90175" wrap="square" tIns="450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7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14300201" y="1164823"/>
            <a:ext cx="20447000" cy="24973566"/>
          </a:xfrm>
          <a:prstGeom prst="rect">
            <a:avLst/>
          </a:prstGeom>
          <a:noFill/>
          <a:ln>
            <a:noFill/>
          </a:ln>
        </p:spPr>
        <p:txBody>
          <a:bodyPr anchorCtr="0" anchor="t" bIns="45075" lIns="90175" spcFirstLastPara="1" rIns="90175" wrap="square" tIns="45075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735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–"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61950" lvl="2" marL="1371600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•"/>
              <a:defRPr b="0" i="0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36550" lvl="3" marL="1828800" marR="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–"/>
              <a:defRPr b="0" i="0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36550" lvl="4" marL="2286000" marR="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»"/>
              <a:defRPr b="0" i="0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36550" lvl="5" marL="2743200" marR="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»"/>
              <a:defRPr b="0" i="0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36550" lvl="6" marL="3200400" marR="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»"/>
              <a:defRPr b="0" i="0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36550" lvl="7" marL="3657600" marR="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»"/>
              <a:defRPr b="0" i="0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36550" lvl="8" marL="4114800" marR="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»"/>
              <a:defRPr b="0" i="0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6" name="Google Shape;56;p10"/>
          <p:cNvSpPr txBox="1"/>
          <p:nvPr>
            <p:ph idx="2" type="body"/>
          </p:nvPr>
        </p:nvSpPr>
        <p:spPr>
          <a:xfrm>
            <a:off x="1828801" y="6123190"/>
            <a:ext cx="12032917" cy="200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75" lIns="90175" spcFirstLastPara="1" rIns="90175" wrap="square" tIns="450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b="0" i="0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b="0" i="0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b="0" i="0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b="0" i="0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b="0" i="0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b="0" i="0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b="0" i="0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7" name="Google Shape;57;p10"/>
          <p:cNvSpPr txBox="1"/>
          <p:nvPr>
            <p:ph idx="10" type="dt"/>
          </p:nvPr>
        </p:nvSpPr>
        <p:spPr>
          <a:xfrm>
            <a:off x="2741864" y="26660700"/>
            <a:ext cx="7620000" cy="19504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8" name="Google Shape;58;p10"/>
          <p:cNvSpPr txBox="1"/>
          <p:nvPr>
            <p:ph idx="11" type="ftr"/>
          </p:nvPr>
        </p:nvSpPr>
        <p:spPr>
          <a:xfrm>
            <a:off x="12498139" y="26660700"/>
            <a:ext cx="11579725" cy="1950433"/>
          </a:xfrm>
          <a:prstGeom prst="rect">
            <a:avLst/>
          </a:prstGeom>
          <a:noFill/>
          <a:ln>
            <a:noFill/>
          </a:ln>
        </p:spPr>
        <p:txBody>
          <a:bodyPr anchorCtr="0" anchor="t" bIns="45075" lIns="90175" spcFirstLastPara="1" rIns="90175" wrap="square" tIns="450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26214137" y="26660700"/>
            <a:ext cx="7620000" cy="1950433"/>
          </a:xfrm>
          <a:prstGeom prst="rect">
            <a:avLst/>
          </a:prstGeom>
          <a:noFill/>
          <a:ln>
            <a:noFill/>
          </a:ln>
        </p:spPr>
        <p:txBody>
          <a:bodyPr anchorCtr="0" anchor="t" bIns="45075" lIns="90175" spcFirstLastPara="1" rIns="90175" wrap="square" tIns="450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type="title"/>
          </p:nvPr>
        </p:nvSpPr>
        <p:spPr>
          <a:xfrm>
            <a:off x="7169484" y="20483134"/>
            <a:ext cx="21945600" cy="2416935"/>
          </a:xfrm>
          <a:prstGeom prst="rect">
            <a:avLst/>
          </a:prstGeom>
          <a:noFill/>
          <a:ln>
            <a:noFill/>
          </a:ln>
        </p:spPr>
        <p:txBody>
          <a:bodyPr anchorCtr="0" anchor="b" bIns="45075" lIns="90175" spcFirstLastPara="1" rIns="90175" wrap="square" tIns="450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7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62" name="Google Shape;62;p11"/>
          <p:cNvSpPr/>
          <p:nvPr>
            <p:ph idx="2" type="pic"/>
          </p:nvPr>
        </p:nvSpPr>
        <p:spPr>
          <a:xfrm>
            <a:off x="7169484" y="2614414"/>
            <a:ext cx="21945600" cy="17556766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1"/>
          <p:cNvSpPr txBox="1"/>
          <p:nvPr>
            <p:ph idx="1" type="body"/>
          </p:nvPr>
        </p:nvSpPr>
        <p:spPr>
          <a:xfrm>
            <a:off x="7169484" y="22900068"/>
            <a:ext cx="21945600" cy="3434366"/>
          </a:xfrm>
          <a:prstGeom prst="rect">
            <a:avLst/>
          </a:prstGeom>
          <a:noFill/>
          <a:ln>
            <a:noFill/>
          </a:ln>
        </p:spPr>
        <p:txBody>
          <a:bodyPr anchorCtr="0" anchor="t" bIns="45075" lIns="90175" spcFirstLastPara="1" rIns="90175" wrap="square" tIns="450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b="0" i="0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b="0" i="0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b="0" i="0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b="0" i="0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b="0" i="0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b="0" i="0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b="0" i="0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64" name="Google Shape;64;p11"/>
          <p:cNvSpPr txBox="1"/>
          <p:nvPr>
            <p:ph idx="10" type="dt"/>
          </p:nvPr>
        </p:nvSpPr>
        <p:spPr>
          <a:xfrm>
            <a:off x="2741864" y="26660700"/>
            <a:ext cx="7620000" cy="19504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65" name="Google Shape;65;p11"/>
          <p:cNvSpPr txBox="1"/>
          <p:nvPr>
            <p:ph idx="11" type="ftr"/>
          </p:nvPr>
        </p:nvSpPr>
        <p:spPr>
          <a:xfrm>
            <a:off x="12498139" y="26660700"/>
            <a:ext cx="11579725" cy="1950433"/>
          </a:xfrm>
          <a:prstGeom prst="rect">
            <a:avLst/>
          </a:prstGeom>
          <a:noFill/>
          <a:ln>
            <a:noFill/>
          </a:ln>
        </p:spPr>
        <p:txBody>
          <a:bodyPr anchorCtr="0" anchor="t" bIns="45075" lIns="90175" spcFirstLastPara="1" rIns="90175" wrap="square" tIns="450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66" name="Google Shape;66;p11"/>
          <p:cNvSpPr txBox="1"/>
          <p:nvPr>
            <p:ph idx="12" type="sldNum"/>
          </p:nvPr>
        </p:nvSpPr>
        <p:spPr>
          <a:xfrm>
            <a:off x="26214137" y="26660700"/>
            <a:ext cx="7620000" cy="1950433"/>
          </a:xfrm>
          <a:prstGeom prst="rect">
            <a:avLst/>
          </a:prstGeom>
          <a:noFill/>
          <a:ln>
            <a:noFill/>
          </a:ln>
        </p:spPr>
        <p:txBody>
          <a:bodyPr anchorCtr="0" anchor="t" bIns="45075" lIns="90175" spcFirstLastPara="1" rIns="90175" wrap="square" tIns="450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/>
          <p:nvPr>
            <p:ph type="title"/>
          </p:nvPr>
        </p:nvSpPr>
        <p:spPr>
          <a:xfrm>
            <a:off x="2741864" y="2601532"/>
            <a:ext cx="31092275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75" lIns="90175" spcFirstLastPara="1" rIns="90175" wrap="square" tIns="450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69" name="Google Shape;69;p12"/>
          <p:cNvSpPr txBox="1"/>
          <p:nvPr>
            <p:ph idx="1" type="body"/>
          </p:nvPr>
        </p:nvSpPr>
        <p:spPr>
          <a:xfrm rot="5400000">
            <a:off x="9511050" y="1686511"/>
            <a:ext cx="17553904" cy="31092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075" lIns="90175" spcFirstLastPara="1" rIns="90175" wrap="square" tIns="45075">
            <a:noAutofit/>
          </a:bodyPr>
          <a:lstStyle>
            <a:lvl1pPr indent="-1079500" lvl="0" marL="457200" marR="0" rtl="0" algn="l">
              <a:lnSpc>
                <a:spcPct val="100000"/>
              </a:lnSpc>
              <a:spcBef>
                <a:spcPts val="2680"/>
              </a:spcBef>
              <a:spcAft>
                <a:spcPts val="0"/>
              </a:spcAft>
              <a:buClr>
                <a:schemeClr val="dk1"/>
              </a:buClr>
              <a:buSzPts val="13400"/>
              <a:buFont typeface="Times New Roman"/>
              <a:buChar char="•"/>
              <a:defRPr b="0" i="0" sz="13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952500" lvl="1" marL="914400" marR="0" rtl="0" algn="l">
              <a:lnSpc>
                <a:spcPct val="100000"/>
              </a:lnSpc>
              <a:spcBef>
                <a:spcPts val="2280"/>
              </a:spcBef>
              <a:spcAft>
                <a:spcPts val="0"/>
              </a:spcAft>
              <a:buClr>
                <a:schemeClr val="dk1"/>
              </a:buClr>
              <a:buSzPts val="11400"/>
              <a:buFont typeface="Times New Roman"/>
              <a:buChar char="–"/>
              <a:defRPr b="0" i="0" sz="1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869950" lvl="2" marL="1371600" marR="0" rtl="0" algn="l">
              <a:lnSpc>
                <a:spcPct val="100000"/>
              </a:lnSpc>
              <a:spcBef>
                <a:spcPts val="2020"/>
              </a:spcBef>
              <a:spcAft>
                <a:spcPts val="0"/>
              </a:spcAft>
              <a:buClr>
                <a:schemeClr val="dk1"/>
              </a:buClr>
              <a:buSzPts val="10100"/>
              <a:buFont typeface="Times New Roman"/>
              <a:buChar char="•"/>
              <a:defRPr b="0" i="0" sz="10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762000" lvl="3" marL="1828800" marR="0" rtl="0" algn="l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Times New Roman"/>
              <a:buChar char="–"/>
              <a:defRPr b="0" i="0" sz="8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762000" lvl="4" marL="2286000" marR="0" rtl="0" algn="l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Times New Roman"/>
              <a:buChar char="»"/>
              <a:defRPr b="0" i="0" sz="8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762000" lvl="5" marL="2743200" marR="0" rtl="0" algn="l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Times New Roman"/>
              <a:buChar char="»"/>
              <a:defRPr b="0" i="0" sz="8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762000" lvl="6" marL="3200400" marR="0" rtl="0" algn="l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Times New Roman"/>
              <a:buChar char="»"/>
              <a:defRPr b="0" i="0" sz="8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762000" lvl="7" marL="3657600" marR="0" rtl="0" algn="l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Times New Roman"/>
              <a:buChar char="»"/>
              <a:defRPr b="0" i="0" sz="8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762000" lvl="8" marL="4114800" marR="0" rtl="0" algn="l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Times New Roman"/>
              <a:buChar char="»"/>
              <a:defRPr b="0" i="0" sz="8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2741864" y="26660700"/>
            <a:ext cx="7620000" cy="19504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12498139" y="26660700"/>
            <a:ext cx="11579725" cy="1950433"/>
          </a:xfrm>
          <a:prstGeom prst="rect">
            <a:avLst/>
          </a:prstGeom>
          <a:noFill/>
          <a:ln>
            <a:noFill/>
          </a:ln>
        </p:spPr>
        <p:txBody>
          <a:bodyPr anchorCtr="0" anchor="t" bIns="45075" lIns="90175" spcFirstLastPara="1" rIns="90175" wrap="square" tIns="450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26214137" y="26660700"/>
            <a:ext cx="7620000" cy="1950433"/>
          </a:xfrm>
          <a:prstGeom prst="rect">
            <a:avLst/>
          </a:prstGeom>
          <a:noFill/>
          <a:ln>
            <a:noFill/>
          </a:ln>
        </p:spPr>
        <p:txBody>
          <a:bodyPr anchorCtr="0" anchor="t" bIns="45075" lIns="90175" spcFirstLastPara="1" rIns="90175" wrap="square" tIns="450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 rot="5400000">
            <a:off x="18243904" y="10419367"/>
            <a:ext cx="23408068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75" lIns="90175" spcFirstLastPara="1" rIns="90175" wrap="square" tIns="450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1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633599" y="2709798"/>
            <a:ext cx="23408068" cy="23191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075" lIns="90175" spcFirstLastPara="1" rIns="90175" wrap="square" tIns="45075">
            <a:noAutofit/>
          </a:bodyPr>
          <a:lstStyle>
            <a:lvl1pPr indent="-1079500" lvl="0" marL="457200" marR="0" rtl="0" algn="l">
              <a:lnSpc>
                <a:spcPct val="100000"/>
              </a:lnSpc>
              <a:spcBef>
                <a:spcPts val="2680"/>
              </a:spcBef>
              <a:spcAft>
                <a:spcPts val="0"/>
              </a:spcAft>
              <a:buClr>
                <a:schemeClr val="dk1"/>
              </a:buClr>
              <a:buSzPts val="13400"/>
              <a:buFont typeface="Times New Roman"/>
              <a:buChar char="•"/>
              <a:defRPr b="0" i="0" sz="13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952500" lvl="1" marL="914400" marR="0" rtl="0" algn="l">
              <a:lnSpc>
                <a:spcPct val="100000"/>
              </a:lnSpc>
              <a:spcBef>
                <a:spcPts val="2280"/>
              </a:spcBef>
              <a:spcAft>
                <a:spcPts val="0"/>
              </a:spcAft>
              <a:buClr>
                <a:schemeClr val="dk1"/>
              </a:buClr>
              <a:buSzPts val="11400"/>
              <a:buFont typeface="Times New Roman"/>
              <a:buChar char="–"/>
              <a:defRPr b="0" i="0" sz="1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869950" lvl="2" marL="1371600" marR="0" rtl="0" algn="l">
              <a:lnSpc>
                <a:spcPct val="100000"/>
              </a:lnSpc>
              <a:spcBef>
                <a:spcPts val="2020"/>
              </a:spcBef>
              <a:spcAft>
                <a:spcPts val="0"/>
              </a:spcAft>
              <a:buClr>
                <a:schemeClr val="dk1"/>
              </a:buClr>
              <a:buSzPts val="10100"/>
              <a:buFont typeface="Times New Roman"/>
              <a:buChar char="•"/>
              <a:defRPr b="0" i="0" sz="10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762000" lvl="3" marL="1828800" marR="0" rtl="0" algn="l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Times New Roman"/>
              <a:buChar char="–"/>
              <a:defRPr b="0" i="0" sz="8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762000" lvl="4" marL="2286000" marR="0" rtl="0" algn="l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Times New Roman"/>
              <a:buChar char="»"/>
              <a:defRPr b="0" i="0" sz="8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762000" lvl="5" marL="2743200" marR="0" rtl="0" algn="l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Times New Roman"/>
              <a:buChar char="»"/>
              <a:defRPr b="0" i="0" sz="8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762000" lvl="6" marL="3200400" marR="0" rtl="0" algn="l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Times New Roman"/>
              <a:buChar char="»"/>
              <a:defRPr b="0" i="0" sz="8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762000" lvl="7" marL="3657600" marR="0" rtl="0" algn="l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Times New Roman"/>
              <a:buChar char="»"/>
              <a:defRPr b="0" i="0" sz="8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762000" lvl="8" marL="4114800" marR="0" rtl="0" algn="l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Times New Roman"/>
              <a:buChar char="»"/>
              <a:defRPr b="0" i="0" sz="8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2741864" y="26660700"/>
            <a:ext cx="7620000" cy="19504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12498139" y="26660700"/>
            <a:ext cx="11579725" cy="1950433"/>
          </a:xfrm>
          <a:prstGeom prst="rect">
            <a:avLst/>
          </a:prstGeom>
          <a:noFill/>
          <a:ln>
            <a:noFill/>
          </a:ln>
        </p:spPr>
        <p:txBody>
          <a:bodyPr anchorCtr="0" anchor="t" bIns="45075" lIns="90175" spcFirstLastPara="1" rIns="90175" wrap="square" tIns="450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26214137" y="26660700"/>
            <a:ext cx="7620000" cy="1950433"/>
          </a:xfrm>
          <a:prstGeom prst="rect">
            <a:avLst/>
          </a:prstGeom>
          <a:noFill/>
          <a:ln>
            <a:noFill/>
          </a:ln>
        </p:spPr>
        <p:txBody>
          <a:bodyPr anchorCtr="0" anchor="t" bIns="45075" lIns="90175" spcFirstLastPara="1" rIns="90175" wrap="square" tIns="450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doi.org/10.1186/2041-1480-5-1" TargetMode="External"/><Relationship Id="rId4" Type="http://schemas.openxmlformats.org/officeDocument/2006/relationships/image" Target="../media/image2.png"/><Relationship Id="rId9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1.png"/><Relationship Id="rId7" Type="http://schemas.openxmlformats.org/officeDocument/2006/relationships/image" Target="../media/image3.png"/><Relationship Id="rId8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8D8D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8759952" y="6250975"/>
            <a:ext cx="15824100" cy="1738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8275" lIns="76550" spcFirstLastPara="1" rIns="76550" wrap="square" tIns="3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24876575" y="23065975"/>
            <a:ext cx="11319900" cy="577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8275" lIns="76550" spcFirstLastPara="1" rIns="76550" wrap="square" tIns="3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8747150" y="25256825"/>
            <a:ext cx="15796800" cy="3561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8275" lIns="76550" spcFirstLastPara="1" rIns="76550" wrap="square" tIns="3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425175" y="6161450"/>
            <a:ext cx="7887300" cy="846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8275" lIns="76550" spcFirstLastPara="1" rIns="76550" wrap="square" tIns="3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526000" y="16212675"/>
            <a:ext cx="7887300" cy="12460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8275" lIns="76550" spcFirstLastPara="1" rIns="76550" wrap="square" tIns="3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24935475" y="7391875"/>
            <a:ext cx="11129700" cy="15107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8275" lIns="76550" spcFirstLastPara="1" rIns="76550" wrap="square" tIns="3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440575" y="4759125"/>
            <a:ext cx="7887300" cy="1210800"/>
          </a:xfrm>
          <a:prstGeom prst="rect">
            <a:avLst/>
          </a:prstGeom>
          <a:solidFill>
            <a:srgbClr val="0050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29650" lIns="229650" spcFirstLastPara="1" rIns="229650" wrap="square" tIns="2296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0" i="0" lang="en-US" sz="4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521225" y="14821975"/>
            <a:ext cx="7887300" cy="1210800"/>
          </a:xfrm>
          <a:prstGeom prst="rect">
            <a:avLst/>
          </a:prstGeom>
          <a:solidFill>
            <a:srgbClr val="0050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29650" lIns="229650" spcFirstLastPara="1" rIns="229650" wrap="square" tIns="2296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0" i="0" lang="en-US" sz="4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b="0" i="0" sz="4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24990525" y="4759125"/>
            <a:ext cx="11129700" cy="1210800"/>
          </a:xfrm>
          <a:prstGeom prst="rect">
            <a:avLst/>
          </a:prstGeom>
          <a:solidFill>
            <a:srgbClr val="0050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29650" lIns="229650" spcFirstLastPara="1" rIns="229650" wrap="square" tIns="2296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0" i="0" lang="en-US" sz="4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 b="0" i="0" sz="4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24895775" y="21664250"/>
            <a:ext cx="11319900" cy="1210800"/>
          </a:xfrm>
          <a:prstGeom prst="rect">
            <a:avLst/>
          </a:prstGeom>
          <a:solidFill>
            <a:srgbClr val="0050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29650" lIns="229650" spcFirstLastPara="1" rIns="229650" wrap="square" tIns="2296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0" i="0" lang="en-US" sz="4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Conclusions</a:t>
            </a:r>
            <a:endParaRPr b="0" i="0" sz="4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8774400" y="23921225"/>
            <a:ext cx="15796800" cy="1210800"/>
          </a:xfrm>
          <a:prstGeom prst="rect">
            <a:avLst/>
          </a:prstGeom>
          <a:solidFill>
            <a:srgbClr val="0050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29650" lIns="229650" spcFirstLastPara="1" rIns="229650" wrap="square" tIns="2296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0" i="0" lang="en-US" sz="4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440575" y="6306575"/>
            <a:ext cx="7887300" cy="83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9725" lIns="182875" spcFirstLastPara="1" rIns="1828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4C1130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545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Char char="●"/>
            </a:pPr>
            <a:r>
              <a:rPr b="1" i="0" lang="en-US" sz="3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Alzheimer’s </a:t>
            </a:r>
            <a:r>
              <a:rPr b="1" lang="en-US" sz="3100">
                <a:solidFill>
                  <a:schemeClr val="dk1"/>
                </a:solidFill>
              </a:rPr>
              <a:t>D</a:t>
            </a:r>
            <a:r>
              <a:rPr b="1" i="0" lang="en-US" sz="3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isease</a:t>
            </a:r>
            <a:r>
              <a:rPr b="0" i="0" lang="en-US" sz="3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100">
                <a:solidFill>
                  <a:schemeClr val="dk1"/>
                </a:solidFill>
              </a:rPr>
              <a:t>(AD) is a progressive, irreversible neurodegenerative disorder.</a:t>
            </a:r>
            <a:endParaRPr sz="3100">
              <a:solidFill>
                <a:schemeClr val="dk1"/>
              </a:solidFill>
            </a:endParaRPr>
          </a:p>
          <a:p>
            <a:pPr indent="-42545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100"/>
              <a:buChar char="●"/>
            </a:pPr>
            <a:r>
              <a:rPr lang="en-US" sz="3100">
                <a:solidFill>
                  <a:schemeClr val="dk1"/>
                </a:solidFill>
              </a:rPr>
              <a:t>Early detection  at the Mild Cognitive Impairment (MCI) stage is critical before </a:t>
            </a:r>
            <a:r>
              <a:rPr lang="en-US" sz="3100">
                <a:solidFill>
                  <a:schemeClr val="dk1"/>
                </a:solidFill>
              </a:rPr>
              <a:t>irreversible</a:t>
            </a:r>
            <a:r>
              <a:rPr lang="en-US" sz="3100">
                <a:solidFill>
                  <a:schemeClr val="dk1"/>
                </a:solidFill>
              </a:rPr>
              <a:t> structural damage occurs.</a:t>
            </a:r>
            <a:endParaRPr sz="3100">
              <a:solidFill>
                <a:schemeClr val="dk1"/>
              </a:solidFill>
            </a:endParaRPr>
          </a:p>
          <a:p>
            <a:pPr indent="-42545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100"/>
              <a:buChar char="●"/>
            </a:pPr>
            <a:r>
              <a:rPr lang="en-US" sz="3100">
                <a:solidFill>
                  <a:schemeClr val="dk1"/>
                </a:solidFill>
              </a:rPr>
              <a:t>High-dimensional sMRI data contains hundreds of localized features, making it difficult to determine which ones are </a:t>
            </a:r>
            <a:r>
              <a:rPr lang="en-US" sz="3100">
                <a:solidFill>
                  <a:schemeClr val="dk1"/>
                </a:solidFill>
              </a:rPr>
              <a:t>important</a:t>
            </a:r>
            <a:r>
              <a:rPr lang="en-US" sz="3100">
                <a:solidFill>
                  <a:schemeClr val="dk1"/>
                </a:solidFill>
              </a:rPr>
              <a:t> for AD diagnosis.</a:t>
            </a:r>
            <a:endParaRPr sz="3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4C1130"/>
                </a:solidFill>
                <a:latin typeface="Arial"/>
                <a:ea typeface="Arial"/>
                <a:cs typeface="Arial"/>
                <a:sym typeface="Arial"/>
              </a:rPr>
              <a:t>Objective</a:t>
            </a:r>
            <a:endParaRPr b="1" sz="3500">
              <a:solidFill>
                <a:srgbClr val="4C1130"/>
              </a:solidFill>
            </a:endParaRPr>
          </a:p>
          <a:p>
            <a:pPr indent="0" lvl="0" marL="0" rtl="0" algn="l"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</a:pPr>
            <a:r>
              <a:rPr lang="en-US" sz="3100">
                <a:solidFill>
                  <a:schemeClr val="dk1"/>
                </a:solidFill>
              </a:rPr>
              <a:t>Advance data-driven tools to find and analyze ROI features related to the detection of early Alzheimer’s Disease.</a:t>
            </a:r>
            <a:endParaRPr sz="3100">
              <a:solidFill>
                <a:schemeClr val="dk1"/>
              </a:solidFill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527225" y="16390350"/>
            <a:ext cx="7887300" cy="12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9725" lIns="182875" spcFirstLastPara="1" rIns="182875" wrap="square" tIns="0">
            <a:noAutofit/>
          </a:bodyPr>
          <a:lstStyle/>
          <a:p>
            <a:pPr indent="-42181" lvl="0" marL="4218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100">
                <a:solidFill>
                  <a:schemeClr val="dk1"/>
                </a:solidFill>
              </a:rPr>
              <a:t>MRI data is sourced from the Alzheimer’s Disease Neuroimaging Initiative (ADNI) database with 3 cohorts:</a:t>
            </a:r>
            <a:endParaRPr sz="31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solidFill>
                <a:schemeClr val="dk1"/>
              </a:solidFill>
            </a:endParaRPr>
          </a:p>
          <a:p>
            <a:pPr indent="-42181" lvl="0" marL="42181" marR="0" rtl="0" algn="l">
              <a:lnSpc>
                <a:spcPct val="100000"/>
              </a:lnSpc>
              <a:spcBef>
                <a:spcPts val="175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C113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/>
              <a:t>327 distinct structural brain features were grouped into 10 macro regions:</a:t>
            </a:r>
            <a:endParaRPr sz="3100"/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97" name="Google Shape;97;p1"/>
          <p:cNvSpPr txBox="1"/>
          <p:nvPr/>
        </p:nvSpPr>
        <p:spPr>
          <a:xfrm>
            <a:off x="8982825" y="25325100"/>
            <a:ext cx="15150900" cy="3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9725" lIns="182875" spcFirstLastPara="1" rIns="182875" wrap="square" tIns="109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[1] </a:t>
            </a:r>
            <a:r>
              <a:rPr lang="en-US" sz="2200">
                <a:solidFill>
                  <a:schemeClr val="dk1"/>
                </a:solidFill>
              </a:rPr>
              <a:t>Petersen, R. C., Aisen, P. S., Beckett, L. A., Donohue, M. C., Gamst, A. C., Harvey, D. J., ... &amp; Jack Jr, C. R. (2010). Alzheimer's Disease Neuroimaging Initiative (ADNI): clinical characterization. Neurology, 74(3), 201-209.</a:t>
            </a:r>
            <a:endParaRPr sz="2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[2] Nichols, B. N., Mejino, J. L., Detwiler, L. T., Nilsen, T. T., Martone, M. E., Turner, J. A., Rubin, D. L., &amp; Brinkley, J. F. (2014). Neuroanatomical domain of the foundational model of anatomy ontology. Journal of biomedical semantics, 5(1), 1. </a:t>
            </a:r>
            <a:r>
              <a:rPr b="0" i="0" lang="en-US" sz="22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https://doi.org/10.1186/2041-1480-5-1</a:t>
            </a:r>
            <a:endParaRPr sz="2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[3] </a:t>
            </a:r>
            <a:r>
              <a:rPr lang="en-US" sz="2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Structural MRI scans highlighting dataset features from page 8 are sourced from Alwuthaynani et al. (2023)</a:t>
            </a:r>
            <a:r>
              <a:rPr lang="en-US" sz="2200">
                <a:solidFill>
                  <a:schemeClr val="dk1"/>
                </a:solidFill>
              </a:rPr>
              <a:t>. The figure illustrates key characteristics used for detecting cognitive decline. Access the full paper</a:t>
            </a:r>
            <a:r>
              <a:rPr lang="en-US" sz="2200">
                <a:solidFill>
                  <a:schemeClr val="dk1"/>
                </a:solidFill>
              </a:rPr>
              <a:t> at </a:t>
            </a:r>
            <a:r>
              <a:rPr lang="en-US" sz="2200">
                <a:solidFill>
                  <a:schemeClr val="dk1"/>
                </a:solidFill>
              </a:rPr>
              <a:t>arxiv.org/pdf/2301.13504</a:t>
            </a:r>
            <a:endParaRPr sz="2500">
              <a:solidFill>
                <a:schemeClr val="dk1"/>
              </a:solidFill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24876575" y="26132900"/>
            <a:ext cx="11319900" cy="6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9725" lIns="182875" spcFirstLastPara="1" rIns="182875" wrap="square" tIns="0">
            <a:noAutofit/>
          </a:bodyPr>
          <a:lstStyle/>
          <a:p>
            <a:pPr indent="-42180" lvl="0" marL="421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4C1130"/>
                </a:solidFill>
                <a:latin typeface="Arial"/>
                <a:ea typeface="Arial"/>
                <a:cs typeface="Arial"/>
                <a:sym typeface="Arial"/>
              </a:rPr>
              <a:t>Future Directions</a:t>
            </a:r>
            <a:endParaRPr b="0" i="0" sz="3300" u="none" cap="none" strike="noStrike">
              <a:solidFill>
                <a:srgbClr val="4C113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284125" y="281625"/>
            <a:ext cx="28181700" cy="4082700"/>
          </a:xfrm>
          <a:prstGeom prst="rect">
            <a:avLst/>
          </a:prstGeom>
          <a:solidFill>
            <a:srgbClr val="005035"/>
          </a:solidFill>
          <a:ln>
            <a:noFill/>
          </a:ln>
        </p:spPr>
        <p:txBody>
          <a:bodyPr anchorCtr="0" anchor="t" bIns="38275" lIns="76550" spcFirstLastPara="1" rIns="76550" wrap="square" tIns="3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402450" y="461900"/>
            <a:ext cx="27366000" cy="35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275" lIns="76550" spcFirstLastPara="1" rIns="76550" wrap="square" tIns="3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lang="en-US" sz="8000">
                <a:solidFill>
                  <a:schemeClr val="lt1"/>
                </a:solidFill>
              </a:rPr>
              <a:t>Uncovering feature significance in Alzheimer’s Disease via statistics and machine learning</a:t>
            </a:r>
            <a:endParaRPr b="1" i="0" sz="8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18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000">
                <a:solidFill>
                  <a:schemeClr val="lt1"/>
                </a:solidFill>
              </a:rPr>
              <a:t>Jenifer Roque-Martinez, Branden Crenshaw</a:t>
            </a:r>
            <a:r>
              <a:rPr b="1" i="0" lang="en-US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UNC Charlotte  </a:t>
            </a:r>
            <a:endParaRPr b="1" i="0" sz="4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Dr. Zheming Gao, William States Lee College of Engineering, Department of Industrial and Systems Engineering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8747150" y="4759125"/>
            <a:ext cx="15824100" cy="1210800"/>
          </a:xfrm>
          <a:prstGeom prst="rect">
            <a:avLst/>
          </a:prstGeom>
          <a:solidFill>
            <a:srgbClr val="0050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29650" lIns="229650" spcFirstLastPara="1" rIns="229650" wrap="square" tIns="2296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0" i="0" lang="en-US" sz="4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Methodology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1" title="uncc_logo-removebg-preview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938275" y="357825"/>
            <a:ext cx="6648450" cy="34004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3" name="Google Shape;103;p1"/>
          <p:cNvGraphicFramePr/>
          <p:nvPr/>
        </p:nvGraphicFramePr>
        <p:xfrm>
          <a:off x="24935488" y="672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{C18B2C54-E4DA-4DC8-95C0-3FEC5C888504}</a:tableStyleId>
              </a:tblPr>
              <a:tblGrid>
                <a:gridCol w="1595950"/>
                <a:gridCol w="1735950"/>
                <a:gridCol w="1735950"/>
                <a:gridCol w="1469950"/>
                <a:gridCol w="1693950"/>
                <a:gridCol w="2897925"/>
              </a:tblGrid>
              <a:tr h="694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</a:t>
                      </a:r>
                      <a:endParaRPr sz="24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35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Accuracy</a:t>
                      </a:r>
                      <a:endParaRPr sz="24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350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Precision</a:t>
                      </a:r>
                      <a:endParaRPr sz="24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350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Recall</a:t>
                      </a:r>
                      <a:endParaRPr sz="24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350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F1-Score</a:t>
                      </a:r>
                      <a:endParaRPr sz="24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350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Characteristic</a:t>
                      </a:r>
                      <a:endParaRPr sz="24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350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6854"/>
                    </a:solidFill>
                  </a:tcPr>
                </a:tc>
              </a:tr>
              <a:tr h="787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Control Model</a:t>
                      </a:r>
                      <a:endParaRPr sz="24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35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73.0</a:t>
                      </a:r>
                      <a:r>
                        <a:rPr lang="en-US" sz="24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r>
                        <a:rPr lang="en-US" sz="24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%</a:t>
                      </a:r>
                      <a:endParaRPr sz="24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74.00%</a:t>
                      </a:r>
                      <a:endParaRPr sz="24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73.00%</a:t>
                      </a:r>
                      <a:endParaRPr sz="24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73.00%</a:t>
                      </a:r>
                      <a:endParaRPr sz="24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Weakest Overall</a:t>
                      </a:r>
                      <a:endParaRPr sz="24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87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PCA Model</a:t>
                      </a:r>
                      <a:endParaRPr sz="24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35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82.00%</a:t>
                      </a:r>
                      <a:endParaRPr sz="24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35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82.00%</a:t>
                      </a:r>
                      <a:endParaRPr sz="24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35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82.00%</a:t>
                      </a:r>
                      <a:endParaRPr sz="24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35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81.00%</a:t>
                      </a:r>
                      <a:endParaRPr sz="24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35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Most Efficient</a:t>
                      </a:r>
                      <a:endParaRPr sz="24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35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787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Regional Model</a:t>
                      </a:r>
                      <a:endParaRPr sz="24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35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82.00%</a:t>
                      </a:r>
                      <a:endParaRPr sz="24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82.00%</a:t>
                      </a:r>
                      <a:endParaRPr sz="24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82.00%</a:t>
                      </a:r>
                      <a:endParaRPr sz="24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82.00%</a:t>
                      </a:r>
                      <a:endParaRPr sz="24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Most Balanced + Best AD Recall</a:t>
                      </a:r>
                      <a:endParaRPr sz="24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87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Individual Model</a:t>
                      </a:r>
                      <a:endParaRPr sz="24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35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84.00%</a:t>
                      </a:r>
                      <a:endParaRPr sz="24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35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85.00%</a:t>
                      </a:r>
                      <a:endParaRPr sz="24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35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r>
                        <a:rPr lang="en-US" sz="24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4.00</a:t>
                      </a:r>
                      <a:r>
                        <a:rPr lang="en-US" sz="24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%</a:t>
                      </a:r>
                      <a:endParaRPr sz="24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35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84%</a:t>
                      </a:r>
                      <a:endParaRPr sz="24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35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Best Overall</a:t>
                      </a:r>
                      <a:endParaRPr sz="24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35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</a:tbl>
          </a:graphicData>
        </a:graphic>
      </p:graphicFrame>
      <p:grpSp>
        <p:nvGrpSpPr>
          <p:cNvPr id="104" name="Google Shape;104;p1"/>
          <p:cNvGrpSpPr/>
          <p:nvPr/>
        </p:nvGrpSpPr>
        <p:grpSpPr>
          <a:xfrm>
            <a:off x="8759956" y="20398611"/>
            <a:ext cx="6119558" cy="3329547"/>
            <a:chOff x="9987465" y="14834739"/>
            <a:chExt cx="8321400" cy="4277425"/>
          </a:xfrm>
        </p:grpSpPr>
        <p:pic>
          <p:nvPicPr>
            <p:cNvPr id="105" name="Google Shape;105;p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006615" y="15385939"/>
              <a:ext cx="8289476" cy="3726225"/>
            </a:xfrm>
            <a:prstGeom prst="rect">
              <a:avLst/>
            </a:prstGeom>
            <a:noFill/>
            <a:ln cap="flat" cmpd="sng" w="12025">
              <a:solidFill>
                <a:srgbClr val="284E3F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06" name="Google Shape;106;p1"/>
            <p:cNvSpPr txBox="1"/>
            <p:nvPr/>
          </p:nvSpPr>
          <p:spPr>
            <a:xfrm>
              <a:off x="9987465" y="14834739"/>
              <a:ext cx="8321400" cy="551100"/>
            </a:xfrm>
            <a:prstGeom prst="rect">
              <a:avLst/>
            </a:prstGeom>
            <a:solidFill>
              <a:srgbClr val="005035"/>
            </a:solidFill>
            <a:ln cap="flat" cmpd="sng" w="12025">
              <a:solidFill>
                <a:srgbClr val="284E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500" lIns="47500" spcFirstLastPara="1" rIns="47500" wrap="square" tIns="47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11">
                  <a:solidFill>
                    <a:schemeClr val="lt1"/>
                  </a:solidFill>
                </a:rPr>
                <a:t>SVM Model (Example)</a:t>
              </a:r>
              <a:endParaRPr sz="1611">
                <a:solidFill>
                  <a:schemeClr val="lt1"/>
                </a:solidFill>
              </a:endParaRPr>
            </a:p>
          </p:txBody>
        </p:sp>
      </p:grpSp>
      <p:pic>
        <p:nvPicPr>
          <p:cNvPr id="107" name="Google Shape;107;p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765805" y="6705550"/>
            <a:ext cx="7472720" cy="4945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"/>
          <p:cNvSpPr txBox="1"/>
          <p:nvPr/>
        </p:nvSpPr>
        <p:spPr>
          <a:xfrm>
            <a:off x="9267250" y="6815788"/>
            <a:ext cx="7109700" cy="43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SzPts val="3100"/>
              <a:buChar char="●"/>
            </a:pPr>
            <a:r>
              <a:rPr lang="en-US" sz="3100"/>
              <a:t>Group normalized data by cohorts</a:t>
            </a:r>
            <a:endParaRPr sz="3100"/>
          </a:p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SzPts val="3100"/>
              <a:buChar char="●"/>
            </a:pPr>
            <a:r>
              <a:rPr lang="en-US" sz="3100"/>
              <a:t>Run ANOVA on individual structural measurements</a:t>
            </a:r>
            <a:endParaRPr sz="3100"/>
          </a:p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SzPts val="3100"/>
              <a:buChar char="●"/>
            </a:pPr>
            <a:r>
              <a:rPr lang="en-US" sz="3100"/>
              <a:t>Map significant features (p &lt; 0.05) to their macro brain regions</a:t>
            </a:r>
            <a:endParaRPr sz="3100"/>
          </a:p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SzPts val="3100"/>
              <a:buChar char="●"/>
            </a:pPr>
            <a:r>
              <a:rPr lang="en-US" sz="3100"/>
              <a:t>Compare results by dividing number of significant features retained in Best PCA model by same regions.</a:t>
            </a:r>
            <a:endParaRPr sz="3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9" name="Google Shape;109;p1"/>
          <p:cNvGrpSpPr/>
          <p:nvPr/>
        </p:nvGrpSpPr>
        <p:grpSpPr>
          <a:xfrm>
            <a:off x="8747138" y="11699933"/>
            <a:ext cx="7109546" cy="2968657"/>
            <a:chOff x="9267250" y="14473250"/>
            <a:chExt cx="5460900" cy="2280250"/>
          </a:xfrm>
        </p:grpSpPr>
        <p:grpSp>
          <p:nvGrpSpPr>
            <p:cNvPr id="110" name="Google Shape;110;p1"/>
            <p:cNvGrpSpPr/>
            <p:nvPr/>
          </p:nvGrpSpPr>
          <p:grpSpPr>
            <a:xfrm>
              <a:off x="9267250" y="14473250"/>
              <a:ext cx="5460900" cy="2280250"/>
              <a:chOff x="9402325" y="14489450"/>
              <a:chExt cx="5460900" cy="2280250"/>
            </a:xfrm>
          </p:grpSpPr>
          <p:grpSp>
            <p:nvGrpSpPr>
              <p:cNvPr id="111" name="Google Shape;111;p1"/>
              <p:cNvGrpSpPr/>
              <p:nvPr/>
            </p:nvGrpSpPr>
            <p:grpSpPr>
              <a:xfrm>
                <a:off x="9402325" y="14489450"/>
                <a:ext cx="5460900" cy="2280225"/>
                <a:chOff x="9402325" y="14489450"/>
                <a:chExt cx="5460900" cy="2280225"/>
              </a:xfrm>
            </p:grpSpPr>
            <p:sp>
              <p:nvSpPr>
                <p:cNvPr id="112" name="Google Shape;112;p1"/>
                <p:cNvSpPr/>
                <p:nvPr/>
              </p:nvSpPr>
              <p:spPr>
                <a:xfrm>
                  <a:off x="9408839" y="14950175"/>
                  <a:ext cx="5443500" cy="18195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425">
                  <a:solidFill>
                    <a:srgbClr val="284E3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119025" lIns="119025" spcFirstLastPara="1" rIns="119025" wrap="square" tIns="1190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23"/>
                </a:p>
              </p:txBody>
            </p:sp>
            <p:sp>
              <p:nvSpPr>
                <p:cNvPr id="113" name="Google Shape;113;p1"/>
                <p:cNvSpPr txBox="1"/>
                <p:nvPr/>
              </p:nvSpPr>
              <p:spPr>
                <a:xfrm>
                  <a:off x="9402325" y="14489450"/>
                  <a:ext cx="5460900" cy="477300"/>
                </a:xfrm>
                <a:prstGeom prst="rect">
                  <a:avLst/>
                </a:prstGeom>
                <a:solidFill>
                  <a:srgbClr val="284E3F"/>
                </a:solidFill>
                <a:ln>
                  <a:noFill/>
                </a:ln>
              </p:spPr>
              <p:txBody>
                <a:bodyPr anchorCtr="0" anchor="t" bIns="119025" lIns="119025" spcFirstLastPara="1" rIns="119025" wrap="square" tIns="1190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604">
                      <a:solidFill>
                        <a:schemeClr val="lt1"/>
                      </a:solidFill>
                    </a:rPr>
                    <a:t>Feature</a:t>
                  </a:r>
                  <a:r>
                    <a:rPr lang="en-US" sz="2604">
                      <a:solidFill>
                        <a:schemeClr val="lt1"/>
                      </a:solidFill>
                    </a:rPr>
                    <a:t> Reduction Strategy (PCA)</a:t>
                  </a:r>
                  <a:endParaRPr sz="2604">
                    <a:solidFill>
                      <a:schemeClr val="lt1"/>
                    </a:solidFill>
                  </a:endParaRPr>
                </a:p>
              </p:txBody>
            </p:sp>
          </p:grpSp>
          <p:sp>
            <p:nvSpPr>
              <p:cNvPr id="114" name="Google Shape;114;p1"/>
              <p:cNvSpPr txBox="1"/>
              <p:nvPr/>
            </p:nvSpPr>
            <p:spPr>
              <a:xfrm>
                <a:off x="9589425" y="15429300"/>
                <a:ext cx="1779600" cy="134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37025" lIns="137025" spcFirstLastPara="1" rIns="137025" wrap="square" tIns="137025">
                <a:noAutofit/>
              </a:bodyPr>
              <a:lstStyle/>
              <a:p>
                <a:pPr indent="0" lvl="0" marL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798">
                    <a:solidFill>
                      <a:srgbClr val="FF0000"/>
                    </a:solidFill>
                    <a:latin typeface="Cambria Math"/>
                    <a:ea typeface="Cambria Math"/>
                    <a:cs typeface="Cambria Math"/>
                    <a:sym typeface="Cambria Math"/>
                  </a:rPr>
                  <a:t>Feature</a:t>
                </a:r>
                <a:r>
                  <a:rPr baseline="-25000" lang="en-US" sz="1798">
                    <a:solidFill>
                      <a:srgbClr val="FF0000"/>
                    </a:solidFill>
                    <a:latin typeface="Cambria Math"/>
                    <a:ea typeface="Cambria Math"/>
                    <a:cs typeface="Cambria Math"/>
                    <a:sym typeface="Cambria Math"/>
                  </a:rPr>
                  <a:t>1</a:t>
                </a:r>
                <a:r>
                  <a:rPr lang="en-US" sz="1798">
                    <a:solidFill>
                      <a:schemeClr val="dk1"/>
                    </a:solidFill>
                  </a:rPr>
                  <a:t> </a:t>
                </a:r>
                <a:r>
                  <a:rPr lang="en-US" sz="1798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  <a:sym typeface="Cambria Math"/>
                  </a:rPr>
                  <a:t>=</a:t>
                </a:r>
                <a:r>
                  <a:rPr lang="en-US" sz="1798">
                    <a:solidFill>
                      <a:schemeClr val="dk1"/>
                    </a:solidFill>
                  </a:rPr>
                  <a:t> </a:t>
                </a:r>
                <a:r>
                  <a:rPr lang="en-US" sz="1798">
                    <a:solidFill>
                      <a:schemeClr val="dk1"/>
                    </a:solidFill>
                  </a:rPr>
                  <a:t>ST32TA</a:t>
                </a:r>
                <a:endParaRPr sz="1798">
                  <a:solidFill>
                    <a:schemeClr val="dk1"/>
                  </a:solidFill>
                </a:endParaRPr>
              </a:p>
              <a:p>
                <a:pPr indent="0" lvl="0" marL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798">
                    <a:solidFill>
                      <a:srgbClr val="00FF00"/>
                    </a:solidFill>
                    <a:latin typeface="Cambria Math"/>
                    <a:ea typeface="Cambria Math"/>
                    <a:cs typeface="Cambria Math"/>
                    <a:sym typeface="Cambria Math"/>
                  </a:rPr>
                  <a:t>Feature</a:t>
                </a:r>
                <a:r>
                  <a:rPr baseline="-25000" lang="en-US" sz="1798">
                    <a:solidFill>
                      <a:srgbClr val="00FF00"/>
                    </a:solidFill>
                    <a:latin typeface="Cambria Math"/>
                    <a:ea typeface="Cambria Math"/>
                    <a:cs typeface="Cambria Math"/>
                    <a:sym typeface="Cambria Math"/>
                  </a:rPr>
                  <a:t>2</a:t>
                </a:r>
                <a:r>
                  <a:rPr lang="en-US" sz="1798">
                    <a:solidFill>
                      <a:schemeClr val="dk1"/>
                    </a:solidFill>
                  </a:rPr>
                  <a:t> </a:t>
                </a:r>
                <a:r>
                  <a:rPr lang="en-US" sz="1798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  <a:sym typeface="Cambria Math"/>
                  </a:rPr>
                  <a:t>=</a:t>
                </a:r>
                <a:r>
                  <a:rPr lang="en-US" sz="1798">
                    <a:solidFill>
                      <a:schemeClr val="dk1"/>
                    </a:solidFill>
                  </a:rPr>
                  <a:t> ST32TS</a:t>
                </a:r>
                <a:endParaRPr sz="1798">
                  <a:solidFill>
                    <a:schemeClr val="dk1"/>
                  </a:solidFill>
                </a:endParaRPr>
              </a:p>
              <a:p>
                <a:pPr indent="0" lvl="0" marL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798">
                    <a:solidFill>
                      <a:srgbClr val="0000FF"/>
                    </a:solidFill>
                    <a:latin typeface="Cambria Math"/>
                    <a:ea typeface="Cambria Math"/>
                    <a:cs typeface="Cambria Math"/>
                    <a:sym typeface="Cambria Math"/>
                  </a:rPr>
                  <a:t>Feature</a:t>
                </a:r>
                <a:r>
                  <a:rPr baseline="-25000" lang="en-US" sz="1798">
                    <a:solidFill>
                      <a:srgbClr val="0000FF"/>
                    </a:solidFill>
                    <a:latin typeface="Cambria Math"/>
                    <a:ea typeface="Cambria Math"/>
                    <a:cs typeface="Cambria Math"/>
                    <a:sym typeface="Cambria Math"/>
                  </a:rPr>
                  <a:t>3 </a:t>
                </a:r>
                <a:r>
                  <a:rPr lang="en-US" sz="1798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  <a:sym typeface="Cambria Math"/>
                  </a:rPr>
                  <a:t>=</a:t>
                </a:r>
                <a:r>
                  <a:rPr lang="en-US" sz="1798">
                    <a:solidFill>
                      <a:schemeClr val="dk1"/>
                    </a:solidFill>
                  </a:rPr>
                  <a:t> ST32SA</a:t>
                </a:r>
                <a:endParaRPr sz="2098">
                  <a:solidFill>
                    <a:schemeClr val="dk1"/>
                  </a:solidFill>
                </a:endParaRPr>
              </a:p>
              <a:p>
                <a:pPr indent="0" lvl="0" marL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32"/>
                  <a:buFont typeface="Arial"/>
                  <a:buNone/>
                </a:pPr>
                <a:r>
                  <a:rPr lang="en-US" sz="1798">
                    <a:solidFill>
                      <a:srgbClr val="9900FF"/>
                    </a:solidFill>
                    <a:latin typeface="Cambria Math"/>
                    <a:ea typeface="Cambria Math"/>
                    <a:cs typeface="Cambria Math"/>
                    <a:sym typeface="Cambria Math"/>
                  </a:rPr>
                  <a:t>Feature</a:t>
                </a:r>
                <a:r>
                  <a:rPr baseline="-25000" lang="en-US" sz="1798">
                    <a:solidFill>
                      <a:srgbClr val="9900FF"/>
                    </a:solidFill>
                    <a:latin typeface="Cambria Math"/>
                    <a:ea typeface="Cambria Math"/>
                    <a:cs typeface="Cambria Math"/>
                    <a:sym typeface="Cambria Math"/>
                  </a:rPr>
                  <a:t>4 </a:t>
                </a:r>
                <a:r>
                  <a:rPr lang="en-US" sz="1798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  <a:sym typeface="Cambria Math"/>
                  </a:rPr>
                  <a:t>=</a:t>
                </a:r>
                <a:r>
                  <a:rPr lang="en-US" sz="1798">
                    <a:solidFill>
                      <a:schemeClr val="dk1"/>
                    </a:solidFill>
                  </a:rPr>
                  <a:t> ST32CV</a:t>
                </a:r>
                <a:endParaRPr sz="1798">
                  <a:solidFill>
                    <a:schemeClr val="dk1"/>
                  </a:solidFill>
                </a:endParaRPr>
              </a:p>
            </p:txBody>
          </p:sp>
          <p:sp>
            <p:nvSpPr>
              <p:cNvPr id="115" name="Google Shape;115;p1"/>
              <p:cNvSpPr txBox="1"/>
              <p:nvPr/>
            </p:nvSpPr>
            <p:spPr>
              <a:xfrm>
                <a:off x="9589425" y="14983825"/>
                <a:ext cx="5273700" cy="42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19025" lIns="119025" spcFirstLastPara="1" rIns="119025" wrap="square" tIns="119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23">
                    <a:latin typeface="Cambria Math"/>
                    <a:ea typeface="Cambria Math"/>
                    <a:cs typeface="Cambria Math"/>
                    <a:sym typeface="Cambria Math"/>
                  </a:rPr>
                  <a:t>PC</a:t>
                </a:r>
                <a:r>
                  <a:rPr baseline="-25000" lang="en-US" sz="1823">
                    <a:latin typeface="Cambria Math"/>
                    <a:ea typeface="Cambria Math"/>
                    <a:cs typeface="Cambria Math"/>
                    <a:sym typeface="Cambria Math"/>
                  </a:rPr>
                  <a:t>k</a:t>
                </a:r>
                <a:r>
                  <a:rPr lang="en-US" sz="1823">
                    <a:latin typeface="Cambria Math"/>
                    <a:ea typeface="Cambria Math"/>
                    <a:cs typeface="Cambria Math"/>
                    <a:sym typeface="Cambria Math"/>
                  </a:rPr>
                  <a:t>=</a:t>
                </a:r>
                <a:r>
                  <a:rPr lang="en-US" sz="1823"/>
                  <a:t> </a:t>
                </a:r>
                <a:r>
                  <a:rPr lang="en-US" sz="1823">
                    <a:latin typeface="Cambria Math"/>
                    <a:ea typeface="Cambria Math"/>
                    <a:cs typeface="Cambria Math"/>
                    <a:sym typeface="Cambria Math"/>
                  </a:rPr>
                  <a:t>w</a:t>
                </a:r>
                <a:r>
                  <a:rPr baseline="-25000" lang="en-US" sz="1823">
                    <a:latin typeface="Cambria Math"/>
                    <a:ea typeface="Cambria Math"/>
                    <a:cs typeface="Cambria Math"/>
                    <a:sym typeface="Cambria Math"/>
                  </a:rPr>
                  <a:t>1</a:t>
                </a:r>
                <a:r>
                  <a:rPr lang="en-US" sz="1823">
                    <a:latin typeface="Cambria Math"/>
                    <a:ea typeface="Cambria Math"/>
                    <a:cs typeface="Cambria Math"/>
                    <a:sym typeface="Cambria Math"/>
                  </a:rPr>
                  <a:t>(</a:t>
                </a:r>
                <a:r>
                  <a:rPr lang="en-US" sz="1798">
                    <a:solidFill>
                      <a:srgbClr val="FF0000"/>
                    </a:solidFill>
                    <a:latin typeface="Cambria Math"/>
                    <a:ea typeface="Cambria Math"/>
                    <a:cs typeface="Cambria Math"/>
                    <a:sym typeface="Cambria Math"/>
                  </a:rPr>
                  <a:t>Feature</a:t>
                </a:r>
                <a:r>
                  <a:rPr baseline="-25000" lang="en-US" sz="1798">
                    <a:solidFill>
                      <a:srgbClr val="FF0000"/>
                    </a:solidFill>
                    <a:latin typeface="Cambria Math"/>
                    <a:ea typeface="Cambria Math"/>
                    <a:cs typeface="Cambria Math"/>
                    <a:sym typeface="Cambria Math"/>
                  </a:rPr>
                  <a:t>1</a:t>
                </a:r>
                <a:r>
                  <a:rPr lang="en-US" sz="1798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  <a:sym typeface="Cambria Math"/>
                  </a:rPr>
                  <a:t>) +  </a:t>
                </a:r>
                <a:r>
                  <a:rPr lang="en-US" sz="1823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  <a:sym typeface="Cambria Math"/>
                  </a:rPr>
                  <a:t>w</a:t>
                </a:r>
                <a:r>
                  <a:rPr baseline="-25000" lang="en-US" sz="1823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  <a:sym typeface="Cambria Math"/>
                  </a:rPr>
                  <a:t>2</a:t>
                </a:r>
                <a:r>
                  <a:rPr lang="en-US" sz="1823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  <a:sym typeface="Cambria Math"/>
                  </a:rPr>
                  <a:t>(</a:t>
                </a:r>
                <a:r>
                  <a:rPr lang="en-US" sz="1798">
                    <a:solidFill>
                      <a:srgbClr val="00FF00"/>
                    </a:solidFill>
                    <a:latin typeface="Cambria Math"/>
                    <a:ea typeface="Cambria Math"/>
                    <a:cs typeface="Cambria Math"/>
                    <a:sym typeface="Cambria Math"/>
                  </a:rPr>
                  <a:t>Feature</a:t>
                </a:r>
                <a:r>
                  <a:rPr baseline="-25000" lang="en-US" sz="1798">
                    <a:solidFill>
                      <a:srgbClr val="00FF00"/>
                    </a:solidFill>
                    <a:latin typeface="Cambria Math"/>
                    <a:ea typeface="Cambria Math"/>
                    <a:cs typeface="Cambria Math"/>
                    <a:sym typeface="Cambria Math"/>
                  </a:rPr>
                  <a:t>2</a:t>
                </a:r>
                <a:r>
                  <a:rPr lang="en-US" sz="1798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  <a:sym typeface="Cambria Math"/>
                  </a:rPr>
                  <a:t>) +  </a:t>
                </a:r>
                <a:r>
                  <a:rPr lang="en-US" sz="1823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  <a:sym typeface="Cambria Math"/>
                  </a:rPr>
                  <a:t>w</a:t>
                </a:r>
                <a:r>
                  <a:rPr baseline="-25000" lang="en-US" sz="1823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  <a:sym typeface="Cambria Math"/>
                  </a:rPr>
                  <a:t>3</a:t>
                </a:r>
                <a:r>
                  <a:rPr lang="en-US" sz="1823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  <a:sym typeface="Cambria Math"/>
                  </a:rPr>
                  <a:t>(</a:t>
                </a:r>
                <a:r>
                  <a:rPr lang="en-US" sz="1798">
                    <a:solidFill>
                      <a:srgbClr val="0000FF"/>
                    </a:solidFill>
                    <a:latin typeface="Cambria Math"/>
                    <a:ea typeface="Cambria Math"/>
                    <a:cs typeface="Cambria Math"/>
                    <a:sym typeface="Cambria Math"/>
                  </a:rPr>
                  <a:t>Feature</a:t>
                </a:r>
                <a:r>
                  <a:rPr baseline="-25000" lang="en-US" sz="1798">
                    <a:solidFill>
                      <a:srgbClr val="0000FF"/>
                    </a:solidFill>
                    <a:latin typeface="Cambria Math"/>
                    <a:ea typeface="Cambria Math"/>
                    <a:cs typeface="Cambria Math"/>
                    <a:sym typeface="Cambria Math"/>
                  </a:rPr>
                  <a:t>3</a:t>
                </a:r>
                <a:r>
                  <a:rPr lang="en-US" sz="1798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  <a:sym typeface="Cambria Math"/>
                  </a:rPr>
                  <a:t>) +  </a:t>
                </a:r>
                <a:r>
                  <a:rPr lang="en-US" sz="1823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  <a:sym typeface="Cambria Math"/>
                  </a:rPr>
                  <a:t>w</a:t>
                </a:r>
                <a:r>
                  <a:rPr baseline="-25000" lang="en-US" sz="1823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  <a:sym typeface="Cambria Math"/>
                  </a:rPr>
                  <a:t>4</a:t>
                </a:r>
                <a:r>
                  <a:rPr lang="en-US" sz="1823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  <a:sym typeface="Cambria Math"/>
                  </a:rPr>
                  <a:t>(</a:t>
                </a:r>
                <a:r>
                  <a:rPr lang="en-US" sz="1798">
                    <a:solidFill>
                      <a:srgbClr val="9900FF"/>
                    </a:solidFill>
                    <a:latin typeface="Cambria Math"/>
                    <a:ea typeface="Cambria Math"/>
                    <a:cs typeface="Cambria Math"/>
                    <a:sym typeface="Cambria Math"/>
                  </a:rPr>
                  <a:t>Feature</a:t>
                </a:r>
                <a:r>
                  <a:rPr baseline="-25000" lang="en-US" sz="1798">
                    <a:solidFill>
                      <a:srgbClr val="9900FF"/>
                    </a:solidFill>
                    <a:latin typeface="Cambria Math"/>
                    <a:ea typeface="Cambria Math"/>
                    <a:cs typeface="Cambria Math"/>
                    <a:sym typeface="Cambria Math"/>
                  </a:rPr>
                  <a:t>4</a:t>
                </a:r>
                <a:r>
                  <a:rPr lang="en-US" sz="1798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  <a:sym typeface="Cambria Math"/>
                  </a:rPr>
                  <a:t>)  </a:t>
                </a:r>
                <a:endParaRPr sz="1823">
                  <a:latin typeface="Cambria Math"/>
                  <a:ea typeface="Cambria Math"/>
                  <a:cs typeface="Cambria Math"/>
                  <a:sym typeface="Cambria Math"/>
                </a:endParaRPr>
              </a:p>
            </p:txBody>
          </p:sp>
          <p:sp>
            <p:nvSpPr>
              <p:cNvPr id="116" name="Google Shape;116;p1"/>
              <p:cNvSpPr txBox="1"/>
              <p:nvPr/>
            </p:nvSpPr>
            <p:spPr>
              <a:xfrm>
                <a:off x="12301947" y="15538894"/>
                <a:ext cx="1714500" cy="55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19025" lIns="119025" spcFirstLastPara="1" rIns="119025" wrap="square" tIns="119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44">
                    <a:latin typeface="Cambria Math"/>
                    <a:ea typeface="Cambria Math"/>
                    <a:cs typeface="Cambria Math"/>
                    <a:sym typeface="Cambria Math"/>
                  </a:rPr>
                  <a:t>PC</a:t>
                </a:r>
                <a:r>
                  <a:rPr baseline="-25000" lang="en-US" sz="2344">
                    <a:latin typeface="Cambria Math"/>
                    <a:ea typeface="Cambria Math"/>
                    <a:cs typeface="Cambria Math"/>
                    <a:sym typeface="Cambria Math"/>
                  </a:rPr>
                  <a:t>k</a:t>
                </a:r>
                <a:r>
                  <a:rPr lang="en-US" sz="2344">
                    <a:latin typeface="Cambria Math"/>
                    <a:ea typeface="Cambria Math"/>
                    <a:cs typeface="Cambria Math"/>
                    <a:sym typeface="Cambria Math"/>
                  </a:rPr>
                  <a:t> = </a:t>
                </a:r>
                <a:r>
                  <a:rPr lang="en-US" sz="2344"/>
                  <a:t>ST32 </a:t>
                </a:r>
                <a:endParaRPr sz="2344"/>
              </a:p>
            </p:txBody>
          </p:sp>
        </p:grpSp>
        <p:sp>
          <p:nvSpPr>
            <p:cNvPr id="117" name="Google Shape;117;p1"/>
            <p:cNvSpPr txBox="1"/>
            <p:nvPr/>
          </p:nvSpPr>
          <p:spPr>
            <a:xfrm>
              <a:off x="11935442" y="16044996"/>
              <a:ext cx="2461500" cy="50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9025" lIns="119025" spcFirstLastPara="1" rIns="119025" wrap="square" tIns="119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23">
                  <a:latin typeface="Cambria Math"/>
                  <a:ea typeface="Cambria Math"/>
                  <a:cs typeface="Cambria Math"/>
                  <a:sym typeface="Cambria Math"/>
                </a:rPr>
                <a:t>w = coefficient </a:t>
              </a:r>
              <a:endParaRPr sz="1823">
                <a:latin typeface="Cambria Math"/>
                <a:ea typeface="Cambria Math"/>
                <a:cs typeface="Cambria Math"/>
                <a:sym typeface="Cambria Math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23">
                  <a:latin typeface="Cambria Math"/>
                  <a:ea typeface="Cambria Math"/>
                  <a:cs typeface="Cambria Math"/>
                  <a:sym typeface="Cambria Math"/>
                </a:rPr>
                <a:t>k = top-k component</a:t>
              </a:r>
              <a:endParaRPr sz="1823">
                <a:latin typeface="Cambria Math"/>
                <a:ea typeface="Cambria Math"/>
                <a:cs typeface="Cambria Math"/>
                <a:sym typeface="Cambria Math"/>
              </a:endParaRPr>
            </a:p>
          </p:txBody>
        </p:sp>
      </p:grpSp>
      <p:sp>
        <p:nvSpPr>
          <p:cNvPr id="118" name="Google Shape;118;p1"/>
          <p:cNvSpPr txBox="1"/>
          <p:nvPr/>
        </p:nvSpPr>
        <p:spPr>
          <a:xfrm>
            <a:off x="25014800" y="16559375"/>
            <a:ext cx="3933600" cy="8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/>
              <a:t>Observations:</a:t>
            </a:r>
            <a:r>
              <a:rPr lang="en-US" sz="3100"/>
              <a:t>:</a:t>
            </a:r>
            <a:endParaRPr sz="3100"/>
          </a:p>
        </p:txBody>
      </p:sp>
      <p:sp>
        <p:nvSpPr>
          <p:cNvPr id="119" name="Google Shape;119;p1"/>
          <p:cNvSpPr txBox="1"/>
          <p:nvPr/>
        </p:nvSpPr>
        <p:spPr>
          <a:xfrm>
            <a:off x="25179425" y="17384575"/>
            <a:ext cx="10349100" cy="38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25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00"/>
              <a:buChar char="●"/>
            </a:pPr>
            <a:r>
              <a:rPr lang="en-US" sz="3100"/>
              <a:t>PCA performed noticeably weaker on AD specific recall </a:t>
            </a:r>
            <a:endParaRPr sz="3100"/>
          </a:p>
          <a:p>
            <a:pPr indent="-425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00"/>
              <a:buChar char="●"/>
            </a:pPr>
            <a:r>
              <a:rPr lang="en-US" sz="3100"/>
              <a:t>Recall is the ability of a model to correctly identify all true positive cases (missing an AD diagnosis is dire)</a:t>
            </a:r>
            <a:endParaRPr sz="3100"/>
          </a:p>
          <a:p>
            <a:pPr indent="-425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00"/>
              <a:buChar char="●"/>
            </a:pPr>
            <a:r>
              <a:rPr lang="en-US" sz="3100"/>
              <a:t>Individual weighting had a bigger impact on regional weighting than PCA did </a:t>
            </a:r>
            <a:endParaRPr sz="3100"/>
          </a:p>
          <a:p>
            <a:pPr indent="-425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00"/>
              <a:buChar char="●"/>
            </a:pPr>
            <a:r>
              <a:rPr lang="en-US" sz="3100"/>
              <a:t>Weighting features beyond individual weighting appeared to have no significant change in performance</a:t>
            </a:r>
            <a:endParaRPr sz="3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/>
          </a:p>
        </p:txBody>
      </p:sp>
      <p:sp>
        <p:nvSpPr>
          <p:cNvPr id="120" name="Google Shape;120;p1"/>
          <p:cNvSpPr txBox="1"/>
          <p:nvPr/>
        </p:nvSpPr>
        <p:spPr>
          <a:xfrm>
            <a:off x="25179425" y="26781500"/>
            <a:ext cx="10752600" cy="19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SzPts val="3100"/>
              <a:buChar char="●"/>
            </a:pPr>
            <a:r>
              <a:rPr lang="en-US" sz="3100"/>
              <a:t>Using regional ranking as a means to further explore important features </a:t>
            </a:r>
            <a:endParaRPr sz="3100"/>
          </a:p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SzPts val="3100"/>
              <a:buChar char="●"/>
            </a:pPr>
            <a:r>
              <a:rPr lang="en-US" sz="3100"/>
              <a:t>Finding similar compression algorithms such as PLS to reduce dimensionality</a:t>
            </a:r>
            <a:endParaRPr sz="3100"/>
          </a:p>
        </p:txBody>
      </p:sp>
      <p:grpSp>
        <p:nvGrpSpPr>
          <p:cNvPr id="121" name="Google Shape;121;p1"/>
          <p:cNvGrpSpPr/>
          <p:nvPr/>
        </p:nvGrpSpPr>
        <p:grpSpPr>
          <a:xfrm>
            <a:off x="8747150" y="15163075"/>
            <a:ext cx="6648600" cy="4219788"/>
            <a:chOff x="17921650" y="12450175"/>
            <a:chExt cx="6648600" cy="4219788"/>
          </a:xfrm>
        </p:grpSpPr>
        <p:grpSp>
          <p:nvGrpSpPr>
            <p:cNvPr id="122" name="Google Shape;122;p1"/>
            <p:cNvGrpSpPr/>
            <p:nvPr/>
          </p:nvGrpSpPr>
          <p:grpSpPr>
            <a:xfrm>
              <a:off x="17921800" y="12951163"/>
              <a:ext cx="6648300" cy="3718800"/>
              <a:chOff x="17921800" y="12951163"/>
              <a:chExt cx="6648300" cy="3718800"/>
            </a:xfrm>
          </p:grpSpPr>
          <p:sp>
            <p:nvSpPr>
              <p:cNvPr id="123" name="Google Shape;123;p1"/>
              <p:cNvSpPr/>
              <p:nvPr/>
            </p:nvSpPr>
            <p:spPr>
              <a:xfrm>
                <a:off x="17921800" y="12951163"/>
                <a:ext cx="6648300" cy="3718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284E3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24" name="Google Shape;124;p1"/>
              <p:cNvGrpSpPr/>
              <p:nvPr/>
            </p:nvGrpSpPr>
            <p:grpSpPr>
              <a:xfrm>
                <a:off x="18042325" y="13029675"/>
                <a:ext cx="6421200" cy="1275125"/>
                <a:chOff x="18042325" y="13029675"/>
                <a:chExt cx="6421200" cy="1275125"/>
              </a:xfrm>
            </p:grpSpPr>
            <p:sp>
              <p:nvSpPr>
                <p:cNvPr id="125" name="Google Shape;125;p1"/>
                <p:cNvSpPr txBox="1"/>
                <p:nvPr/>
              </p:nvSpPr>
              <p:spPr>
                <a:xfrm>
                  <a:off x="18042325" y="13487400"/>
                  <a:ext cx="6421200" cy="354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/>
                    <a:t>ANOVA(Feature) = F-Statistic, P-Value</a:t>
                  </a:r>
                  <a:endParaRPr sz="1800"/>
                </a:p>
              </p:txBody>
            </p:sp>
            <p:sp>
              <p:nvSpPr>
                <p:cNvPr id="126" name="Google Shape;126;p1"/>
                <p:cNvSpPr txBox="1"/>
                <p:nvPr/>
              </p:nvSpPr>
              <p:spPr>
                <a:xfrm>
                  <a:off x="18042325" y="13029675"/>
                  <a:ext cx="2508000" cy="400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Arial"/>
                    <a:buNone/>
                  </a:pPr>
                  <a:r>
                    <a:rPr lang="en-US" sz="2000">
                      <a:solidFill>
                        <a:schemeClr val="dk1"/>
                      </a:solidFill>
                    </a:rPr>
                    <a:t>Individual </a:t>
                  </a:r>
                  <a:r>
                    <a:rPr lang="en-US" sz="2000">
                      <a:solidFill>
                        <a:schemeClr val="dk1"/>
                      </a:solidFill>
                    </a:rPr>
                    <a:t>Features:</a:t>
                  </a:r>
                  <a:r>
                    <a:rPr b="1" lang="en-US" sz="2000">
                      <a:solidFill>
                        <a:schemeClr val="dk1"/>
                      </a:solidFill>
                    </a:rPr>
                    <a:t> </a:t>
                  </a:r>
                  <a:endParaRPr b="1" sz="1600"/>
                </a:p>
              </p:txBody>
            </p:sp>
            <p:sp>
              <p:nvSpPr>
                <p:cNvPr id="127" name="Google Shape;127;p1"/>
                <p:cNvSpPr txBox="1"/>
                <p:nvPr/>
              </p:nvSpPr>
              <p:spPr>
                <a:xfrm>
                  <a:off x="18042325" y="13904600"/>
                  <a:ext cx="6091500" cy="400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/>
                    <a:t>Score = Softmax(All F-Statistics) → Scores Add Up to 1</a:t>
                  </a:r>
                  <a:endParaRPr sz="1800"/>
                </a:p>
              </p:txBody>
            </p:sp>
          </p:grpSp>
          <p:grpSp>
            <p:nvGrpSpPr>
              <p:cNvPr id="128" name="Google Shape;128;p1"/>
              <p:cNvGrpSpPr/>
              <p:nvPr/>
            </p:nvGrpSpPr>
            <p:grpSpPr>
              <a:xfrm>
                <a:off x="18035350" y="14807125"/>
                <a:ext cx="6421200" cy="1275125"/>
                <a:chOff x="18042325" y="13029675"/>
                <a:chExt cx="6421200" cy="1275125"/>
              </a:xfrm>
            </p:grpSpPr>
            <p:sp>
              <p:nvSpPr>
                <p:cNvPr id="129" name="Google Shape;129;p1"/>
                <p:cNvSpPr txBox="1"/>
                <p:nvPr/>
              </p:nvSpPr>
              <p:spPr>
                <a:xfrm>
                  <a:off x="18042325" y="13487400"/>
                  <a:ext cx="6421200" cy="354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/>
                    <a:t>ANOVA(Region) = Average F-Statistic of Region’s Features</a:t>
                  </a:r>
                  <a:endParaRPr sz="1800"/>
                </a:p>
              </p:txBody>
            </p:sp>
            <p:sp>
              <p:nvSpPr>
                <p:cNvPr id="130" name="Google Shape;130;p1"/>
                <p:cNvSpPr txBox="1"/>
                <p:nvPr/>
              </p:nvSpPr>
              <p:spPr>
                <a:xfrm>
                  <a:off x="18042325" y="13029675"/>
                  <a:ext cx="2346900" cy="400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dk1"/>
                      </a:solidFill>
                    </a:rPr>
                    <a:t>Regional/PCA</a:t>
                  </a:r>
                  <a:r>
                    <a:rPr lang="en-US" sz="2000">
                      <a:solidFill>
                        <a:schemeClr val="dk1"/>
                      </a:solidFill>
                    </a:rPr>
                    <a:t>:</a:t>
                  </a:r>
                  <a:r>
                    <a:rPr b="1" lang="en-US" sz="2000">
                      <a:solidFill>
                        <a:schemeClr val="dk1"/>
                      </a:solidFill>
                    </a:rPr>
                    <a:t> </a:t>
                  </a:r>
                  <a:endParaRPr b="1" sz="1600"/>
                </a:p>
              </p:txBody>
            </p:sp>
            <p:sp>
              <p:nvSpPr>
                <p:cNvPr id="131" name="Google Shape;131;p1"/>
                <p:cNvSpPr txBox="1"/>
                <p:nvPr/>
              </p:nvSpPr>
              <p:spPr>
                <a:xfrm>
                  <a:off x="18042325" y="13904600"/>
                  <a:ext cx="6091500" cy="400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/>
                    <a:t>Score = Softmax(All Averages) → Scores Add Up to 1</a:t>
                  </a:r>
                  <a:endParaRPr sz="1800"/>
                </a:p>
              </p:txBody>
            </p:sp>
          </p:grpSp>
        </p:grpSp>
        <p:sp>
          <p:nvSpPr>
            <p:cNvPr id="132" name="Google Shape;132;p1"/>
            <p:cNvSpPr txBox="1"/>
            <p:nvPr/>
          </p:nvSpPr>
          <p:spPr>
            <a:xfrm>
              <a:off x="17921650" y="12450175"/>
              <a:ext cx="6648600" cy="501000"/>
            </a:xfrm>
            <a:prstGeom prst="rect">
              <a:avLst/>
            </a:prstGeom>
            <a:solidFill>
              <a:srgbClr val="284E3F"/>
            </a:solidFill>
            <a:ln>
              <a:noFill/>
            </a:ln>
          </p:spPr>
          <p:txBody>
            <a:bodyPr anchorCtr="0" anchor="t" bIns="119025" lIns="119025" spcFirstLastPara="1" rIns="119025" wrap="square" tIns="1190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4">
                  <a:solidFill>
                    <a:schemeClr val="lt1"/>
                  </a:solidFill>
                </a:rPr>
                <a:t>Feature </a:t>
              </a:r>
              <a:r>
                <a:rPr lang="en-US" sz="2404">
                  <a:solidFill>
                    <a:schemeClr val="lt1"/>
                  </a:solidFill>
                </a:rPr>
                <a:t>Weighting</a:t>
              </a:r>
              <a:r>
                <a:rPr lang="en-US" sz="2404">
                  <a:solidFill>
                    <a:schemeClr val="lt1"/>
                  </a:solidFill>
                </a:rPr>
                <a:t> Strategy</a:t>
              </a:r>
              <a:endParaRPr sz="2404">
                <a:solidFill>
                  <a:schemeClr val="lt1"/>
                </a:solidFill>
              </a:endParaRPr>
            </a:p>
          </p:txBody>
        </p:sp>
      </p:grpSp>
      <p:sp>
        <p:nvSpPr>
          <p:cNvPr id="133" name="Google Shape;133;p1"/>
          <p:cNvSpPr txBox="1"/>
          <p:nvPr/>
        </p:nvSpPr>
        <p:spPr>
          <a:xfrm>
            <a:off x="17353913" y="13226483"/>
            <a:ext cx="7109400" cy="621300"/>
          </a:xfrm>
          <a:prstGeom prst="rect">
            <a:avLst/>
          </a:prstGeom>
          <a:solidFill>
            <a:srgbClr val="284E3F"/>
          </a:solidFill>
          <a:ln>
            <a:noFill/>
          </a:ln>
        </p:spPr>
        <p:txBody>
          <a:bodyPr anchorCtr="0" anchor="t" bIns="119025" lIns="119025" spcFirstLastPara="1" rIns="119025" wrap="square" tIns="119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4">
                <a:solidFill>
                  <a:schemeClr val="lt1"/>
                </a:solidFill>
              </a:rPr>
              <a:t>Finding Weights via F-Statistic (ANOVA)</a:t>
            </a:r>
            <a:endParaRPr sz="2604">
              <a:solidFill>
                <a:schemeClr val="lt1"/>
              </a:solidFill>
            </a:endParaRPr>
          </a:p>
        </p:txBody>
      </p:sp>
      <p:pic>
        <p:nvPicPr>
          <p:cNvPr id="134" name="Google Shape;134;p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353925" y="13840050"/>
            <a:ext cx="7109400" cy="4454726"/>
          </a:xfrm>
          <a:prstGeom prst="rect">
            <a:avLst/>
          </a:prstGeom>
          <a:noFill/>
          <a:ln cap="flat" cmpd="sng" w="9525">
            <a:solidFill>
              <a:srgbClr val="284E3F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35" name="Google Shape;135;p1"/>
          <p:cNvCxnSpPr>
            <a:stCxn id="123" idx="3"/>
          </p:cNvCxnSpPr>
          <p:nvPr/>
        </p:nvCxnSpPr>
        <p:spPr>
          <a:xfrm>
            <a:off x="15395600" y="17523463"/>
            <a:ext cx="4016400" cy="213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" name="Google Shape;136;p1"/>
          <p:cNvCxnSpPr>
            <a:stCxn id="134" idx="1"/>
          </p:cNvCxnSpPr>
          <p:nvPr/>
        </p:nvCxnSpPr>
        <p:spPr>
          <a:xfrm flipH="1">
            <a:off x="15959225" y="16067413"/>
            <a:ext cx="1394700" cy="75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7" name="Google Shape;137;p1"/>
          <p:cNvCxnSpPr>
            <a:stCxn id="112" idx="3"/>
          </p:cNvCxnSpPr>
          <p:nvPr/>
        </p:nvCxnSpPr>
        <p:spPr>
          <a:xfrm>
            <a:off x="15842511" y="13484154"/>
            <a:ext cx="950100" cy="147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38" name="Google Shape;138;p1"/>
          <p:cNvGrpSpPr/>
          <p:nvPr/>
        </p:nvGrpSpPr>
        <p:grpSpPr>
          <a:xfrm>
            <a:off x="15346038" y="19798023"/>
            <a:ext cx="9238540" cy="3842440"/>
            <a:chOff x="16579088" y="20310786"/>
            <a:chExt cx="8004973" cy="3329383"/>
          </a:xfrm>
        </p:grpSpPr>
        <p:grpSp>
          <p:nvGrpSpPr>
            <p:cNvPr id="139" name="Google Shape;139;p1"/>
            <p:cNvGrpSpPr/>
            <p:nvPr/>
          </p:nvGrpSpPr>
          <p:grpSpPr>
            <a:xfrm>
              <a:off x="16579088" y="20310786"/>
              <a:ext cx="8004973" cy="3329383"/>
              <a:chOff x="10037550" y="20192886"/>
              <a:chExt cx="8004973" cy="3329383"/>
            </a:xfrm>
          </p:grpSpPr>
          <p:sp>
            <p:nvSpPr>
              <p:cNvPr id="140" name="Google Shape;140;p1"/>
              <p:cNvSpPr txBox="1"/>
              <p:nvPr/>
            </p:nvSpPr>
            <p:spPr>
              <a:xfrm>
                <a:off x="10037550" y="20192886"/>
                <a:ext cx="8004900" cy="501000"/>
              </a:xfrm>
              <a:prstGeom prst="rect">
                <a:avLst/>
              </a:prstGeom>
              <a:solidFill>
                <a:srgbClr val="005035"/>
              </a:solidFill>
              <a:ln>
                <a:noFill/>
              </a:ln>
            </p:spPr>
            <p:txBody>
              <a:bodyPr anchorCtr="0" anchor="t" bIns="130525" lIns="130525" spcFirstLastPara="1" rIns="130525" wrap="square" tIns="1305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641">
                    <a:solidFill>
                      <a:schemeClr val="lt1"/>
                    </a:solidFill>
                  </a:rPr>
                  <a:t>Weight Application During Training</a:t>
                </a:r>
                <a:endParaRPr sz="2641">
                  <a:solidFill>
                    <a:schemeClr val="lt1"/>
                  </a:solidFill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41">
                  <a:solidFill>
                    <a:schemeClr val="lt1"/>
                  </a:solidFill>
                </a:endParaRPr>
              </a:p>
            </p:txBody>
          </p:sp>
          <p:sp>
            <p:nvSpPr>
              <p:cNvPr id="141" name="Google Shape;141;p1"/>
              <p:cNvSpPr/>
              <p:nvPr/>
            </p:nvSpPr>
            <p:spPr>
              <a:xfrm>
                <a:off x="10037552" y="20694014"/>
                <a:ext cx="8004972" cy="2828254"/>
              </a:xfrm>
              <a:prstGeom prst="rect">
                <a:avLst/>
              </a:prstGeom>
              <a:solidFill>
                <a:schemeClr val="lt1"/>
              </a:solidFill>
              <a:ln cap="flat" cmpd="sng" w="13050">
                <a:solidFill>
                  <a:srgbClr val="284E3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125100" lIns="125100" spcFirstLastPara="1" rIns="125100" wrap="square" tIns="1251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916"/>
              </a:p>
            </p:txBody>
          </p:sp>
        </p:grpSp>
        <p:sp>
          <p:nvSpPr>
            <p:cNvPr id="142" name="Google Shape;142;p1"/>
            <p:cNvSpPr txBox="1"/>
            <p:nvPr/>
          </p:nvSpPr>
          <p:spPr>
            <a:xfrm>
              <a:off x="16781475" y="20954900"/>
              <a:ext cx="7600200" cy="116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5500" lIns="105500" spcFirstLastPara="1" rIns="105500" wrap="square" tIns="105500">
              <a:noAutofit/>
            </a:bodyPr>
            <a:lstStyle/>
            <a:p>
              <a:pPr indent="-410390" lvl="0" marL="527646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2308"/>
                <a:buChar char="●"/>
              </a:pPr>
              <a:r>
                <a:rPr lang="en-US" sz="2308"/>
                <a:t>Calculated weights based on training data only</a:t>
              </a:r>
              <a:endParaRPr sz="2308"/>
            </a:p>
            <a:p>
              <a:pPr indent="-410390" lvl="0" marL="527646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2308"/>
                <a:buChar char="●"/>
              </a:pPr>
              <a:r>
                <a:rPr lang="en-US" sz="2308"/>
                <a:t>Applied same weights to validation and testing data </a:t>
              </a:r>
              <a:endParaRPr sz="2308"/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08"/>
            </a:p>
          </p:txBody>
        </p:sp>
        <p:sp>
          <p:nvSpPr>
            <p:cNvPr id="143" name="Google Shape;143;p1"/>
            <p:cNvSpPr txBox="1"/>
            <p:nvPr/>
          </p:nvSpPr>
          <p:spPr>
            <a:xfrm>
              <a:off x="16637913" y="22147488"/>
              <a:ext cx="7887300" cy="62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5500" lIns="105500" spcFirstLastPara="1" rIns="105500" wrap="square" tIns="105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8"/>
                <a:t>SVM Input = (</a:t>
              </a:r>
              <a:r>
                <a:rPr lang="en-US" sz="2308"/>
                <a:t>f</a:t>
              </a:r>
              <a:r>
                <a:rPr lang="en-US" sz="2308"/>
                <a:t>eatures) * (Individual/PCA weight) * (Regional weight)</a:t>
              </a:r>
              <a:endParaRPr sz="2308"/>
            </a:p>
          </p:txBody>
        </p:sp>
        <p:sp>
          <p:nvSpPr>
            <p:cNvPr id="144" name="Google Shape;144;p1"/>
            <p:cNvSpPr txBox="1"/>
            <p:nvPr/>
          </p:nvSpPr>
          <p:spPr>
            <a:xfrm>
              <a:off x="16637913" y="22709913"/>
              <a:ext cx="7887300" cy="62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5500" lIns="105500" spcFirstLastPara="1" rIns="105500" wrap="square" tIns="105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8"/>
                <a:t>Determined </a:t>
              </a:r>
              <a:r>
                <a:rPr b="1" lang="en-US" sz="2308"/>
                <a:t>best weights</a:t>
              </a:r>
              <a:r>
                <a:rPr lang="en-US" sz="2308"/>
                <a:t> by training </a:t>
              </a:r>
              <a:r>
                <a:rPr lang="en-US" sz="2308"/>
                <a:t>many</a:t>
              </a:r>
              <a:r>
                <a:rPr lang="en-US" sz="2308"/>
                <a:t> different SVM models </a:t>
              </a:r>
              <a:endParaRPr sz="2308"/>
            </a:p>
          </p:txBody>
        </p:sp>
      </p:grpSp>
      <p:sp>
        <p:nvSpPr>
          <p:cNvPr id="145" name="Google Shape;145;p1"/>
          <p:cNvSpPr txBox="1"/>
          <p:nvPr/>
        </p:nvSpPr>
        <p:spPr>
          <a:xfrm>
            <a:off x="25051100" y="23244493"/>
            <a:ext cx="10752600" cy="27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/>
              <a:t>ANOVA provides a largely stable method of ranking brain regions. Regional ranking is best used as an </a:t>
            </a:r>
            <a:r>
              <a:rPr lang="en-US" sz="3100"/>
              <a:t>interpretive</a:t>
            </a:r>
            <a:r>
              <a:rPr lang="en-US" sz="3100"/>
              <a:t> lens when using individual weights rather than using it as a weight </a:t>
            </a:r>
            <a:r>
              <a:rPr lang="en-US" sz="3100"/>
              <a:t>itself</a:t>
            </a:r>
            <a:r>
              <a:rPr lang="en-US" sz="3100"/>
              <a:t>. PCA provides a solid foundation for compressing complex features but </a:t>
            </a:r>
            <a:r>
              <a:rPr lang="en-US" sz="3100"/>
              <a:t>falls short in performance.</a:t>
            </a:r>
            <a:endParaRPr sz="3100"/>
          </a:p>
        </p:txBody>
      </p:sp>
      <p:pic>
        <p:nvPicPr>
          <p:cNvPr id="146" name="Google Shape;146;p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4985175" y="10938600"/>
            <a:ext cx="9372600" cy="55530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7" name="Google Shape;147;p1"/>
          <p:cNvGraphicFramePr/>
          <p:nvPr/>
        </p:nvGraphicFramePr>
        <p:xfrm>
          <a:off x="767250" y="21664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{7CD7209F-BEFC-4115-A1DB-641420CE5772}</a:tableStyleId>
              </a:tblPr>
              <a:tblGrid>
                <a:gridCol w="3736375"/>
                <a:gridCol w="3736375"/>
              </a:tblGrid>
              <a:tr h="684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1"/>
                          </a:solidFill>
                        </a:rPr>
                        <a:t>Macro Region</a:t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284E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1"/>
                          </a:solidFill>
                        </a:rPr>
                        <a:t>Feature Count</a:t>
                      </a:r>
                      <a:endParaRPr sz="2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284E3F"/>
                    </a:solidFill>
                  </a:tcPr>
                </a:tc>
              </a:tr>
              <a:tr h="518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Temporal Lobe</a:t>
                      </a:r>
                      <a:endParaRPr sz="19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50</a:t>
                      </a:r>
                      <a:endParaRPr sz="19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518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Frontal Lobe</a:t>
                      </a:r>
                      <a:endParaRPr sz="19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48</a:t>
                      </a:r>
                      <a:endParaRPr sz="19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65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Cingulate Cortex/Limbic</a:t>
                      </a:r>
                      <a:endParaRPr sz="19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37</a:t>
                      </a:r>
                      <a:endParaRPr sz="19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518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Parietal Lobe</a:t>
                      </a:r>
                      <a:endParaRPr sz="19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32</a:t>
                      </a:r>
                      <a:endParaRPr sz="19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522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Occipital</a:t>
                      </a:r>
                      <a:r>
                        <a:rPr lang="en-US" sz="1900"/>
                        <a:t> Lobe</a:t>
                      </a:r>
                      <a:endParaRPr sz="19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24</a:t>
                      </a:r>
                      <a:endParaRPr sz="19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522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Subcortical Deep Gray Matter</a:t>
                      </a:r>
                      <a:endParaRPr sz="19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12</a:t>
                      </a:r>
                      <a:endParaRPr sz="19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65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Ventricular/CSF Systems</a:t>
                      </a:r>
                      <a:endParaRPr sz="19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8</a:t>
                      </a:r>
                      <a:endParaRPr sz="19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518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Insular Cortex</a:t>
                      </a:r>
                      <a:endParaRPr sz="19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8</a:t>
                      </a:r>
                      <a:endParaRPr sz="1900"/>
                    </a:p>
                  </a:txBody>
                  <a:tcPr marT="91425" marB="91425" marR="91425" marL="91425">
                    <a:lnB cap="flat" cmpd="sng" w="95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5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Cerebellum/Brainstem</a:t>
                      </a:r>
                      <a:endParaRPr sz="1900"/>
                    </a:p>
                  </a:txBody>
                  <a:tcPr marT="91425" marB="91425" marR="91425" marL="91425">
                    <a:lnR cap="flat" cmpd="sng" w="95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5</a:t>
                      </a:r>
                      <a:endParaRPr sz="1900"/>
                    </a:p>
                  </a:txBody>
                  <a:tcPr marT="91425" marB="91425" marR="91425" marL="91425">
                    <a:lnL cap="flat" cmpd="sng" w="95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5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Other/Cortical WM Parcellations</a:t>
                      </a:r>
                      <a:endParaRPr sz="19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103</a:t>
                      </a:r>
                      <a:endParaRPr sz="1900"/>
                    </a:p>
                  </a:txBody>
                  <a:tcPr marT="91425" marB="91425" marR="91425" marL="91425">
                    <a:lnT cap="flat" cmpd="sng" w="95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3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Total Features:</a:t>
                      </a:r>
                      <a:endParaRPr sz="19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327</a:t>
                      </a:r>
                      <a:endParaRPr sz="1900"/>
                    </a:p>
                  </a:txBody>
                  <a:tcPr marT="91425" marB="91425" marR="91425" marL="91425">
                    <a:lnT cap="flat" cmpd="sng" w="95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48" name="Google Shape;148;p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67250" y="18035450"/>
            <a:ext cx="6267526" cy="254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lank">
  <a:themeElements>
    <a:clrScheme name="Blank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